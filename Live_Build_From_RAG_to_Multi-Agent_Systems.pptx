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83876" y="214313"/>
            <a:ext cx="574374" cy="235744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64748B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83876" y="214313"/>
            <a:ext cx="574374" cy="235744"/>
          </a:xfrm>
          <a:prstGeom prst="rect">
            <a:avLst/>
          </a:prstGeom>
          <a:noFill/>
          <a:ln/>
        </p:spPr>
        <p:txBody>
          <a:bodyPr wrap="square" lIns="119126" tIns="51054" rIns="119126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PART V</a:t>
            </a:r>
            <a:endParaRPr lang="en-US" sz="727" dirty="0"/>
          </a:p>
        </p:txBody>
      </p:sp>
      <p:sp>
        <p:nvSpPr>
          <p:cNvPr id="5" name="Shape 2"/>
          <p:cNvSpPr/>
          <p:nvPr/>
        </p:nvSpPr>
        <p:spPr>
          <a:xfrm>
            <a:off x="1357313" y="869584"/>
            <a:ext cx="6429375" cy="3404304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57313" y="876728"/>
            <a:ext cx="6429375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1357313" y="1174979"/>
            <a:ext cx="6429375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Text 5"/>
          <p:cNvSpPr/>
          <p:nvPr/>
        </p:nvSpPr>
        <p:spPr>
          <a:xfrm>
            <a:off x="1985963" y="966025"/>
            <a:ext cx="122587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workshop_live_build.py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1785938" y="1535739"/>
            <a:ext cx="5572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python3 workshop_live_build.py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|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1785938" y="1885783"/>
            <a:ext cx="5572125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Build: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Multi-Agent 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Systems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1785938" y="3263047"/>
            <a:ext cx="55721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Hands-On Code Walkthrough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47349" y="3650596"/>
            <a:ext cx="547948" cy="255389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93" y="3725605"/>
            <a:ext cx="82153" cy="928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0946" y="3707746"/>
            <a:ext cx="22290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RAG</a:t>
            </a:r>
            <a:endParaRPr lang="en-US" sz="674" dirty="0"/>
          </a:p>
        </p:txBody>
      </p:sp>
      <p:sp>
        <p:nvSpPr>
          <p:cNvPr id="15" name="Shape 11"/>
          <p:cNvSpPr/>
          <p:nvPr/>
        </p:nvSpPr>
        <p:spPr>
          <a:xfrm>
            <a:off x="3995310" y="3650596"/>
            <a:ext cx="670089" cy="255389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753" y="3725605"/>
            <a:ext cx="92869" cy="92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09622" y="3707746"/>
            <a:ext cx="3343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Agent</a:t>
            </a:r>
            <a:endParaRPr lang="en-US" sz="674" dirty="0"/>
          </a:p>
        </p:txBody>
      </p:sp>
      <p:sp>
        <p:nvSpPr>
          <p:cNvPr id="18" name="Shape 13"/>
          <p:cNvSpPr/>
          <p:nvPr/>
        </p:nvSpPr>
        <p:spPr>
          <a:xfrm>
            <a:off x="4765411" y="3650596"/>
            <a:ext cx="1016924" cy="255389"/>
          </a:xfrm>
          <a:prstGeom prst="rect">
            <a:avLst/>
          </a:prstGeom>
          <a:solidFill>
            <a:srgbClr val="A78BFA">
              <a:alpha val="10000"/>
            </a:srgbClr>
          </a:solidFill>
          <a:ln w="9144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855" y="3732749"/>
            <a:ext cx="105370" cy="9286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92226" y="3714890"/>
            <a:ext cx="66866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Multi-Agent</a:t>
            </a:r>
            <a:endParaRPr lang="en-US" sz="67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Will Build Three Progressively More Powerful AI Systems</a:t>
            </a:r>
            <a:pPr algn="ctr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ctr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Under 100 Lines of Code Each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1454423"/>
            <a:ext cx="2428875" cy="3403327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54423"/>
            <a:ext cx="2428875" cy="214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2228850" y="1525860"/>
            <a:ext cx="628650" cy="728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10B981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4145" dirty="0"/>
          </a:p>
        </p:txBody>
      </p:sp>
      <p:sp>
        <p:nvSpPr>
          <p:cNvPr id="7" name="Shape 4"/>
          <p:cNvSpPr/>
          <p:nvPr/>
        </p:nvSpPr>
        <p:spPr>
          <a:xfrm>
            <a:off x="1500188" y="1740173"/>
            <a:ext cx="571500" cy="5715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1911623"/>
            <a:ext cx="200025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64456" y="2490267"/>
            <a:ext cx="84296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 RAG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1397496" y="2763515"/>
            <a:ext cx="77688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1_simple_rag.py</a:t>
            </a:r>
            <a:endParaRPr lang="en-US" sz="621" dirty="0"/>
          </a:p>
        </p:txBody>
      </p:sp>
      <p:sp>
        <p:nvSpPr>
          <p:cNvPr id="11" name="Text 7"/>
          <p:cNvSpPr/>
          <p:nvPr/>
        </p:nvSpPr>
        <p:spPr>
          <a:xfrm>
            <a:off x="785813" y="3018904"/>
            <a:ext cx="200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with your own data. The LLM answers questions using only the content of a text file, refusing to hallucinate.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957263" y="4411266"/>
            <a:ext cx="375047" cy="16073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957263" y="4411266"/>
            <a:ext cx="375047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FAISS</a:t>
            </a:r>
            <a:endParaRPr lang="en-US" sz="568" dirty="0"/>
          </a:p>
        </p:txBody>
      </p:sp>
      <p:sp>
        <p:nvSpPr>
          <p:cNvPr id="14" name="Shape 10"/>
          <p:cNvSpPr/>
          <p:nvPr/>
        </p:nvSpPr>
        <p:spPr>
          <a:xfrm>
            <a:off x="1389459" y="4411266"/>
            <a:ext cx="607219" cy="16073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389459" y="4411266"/>
            <a:ext cx="607219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Embeddings</a:t>
            </a:r>
            <a:endParaRPr lang="en-US" sz="568" dirty="0"/>
          </a:p>
        </p:txBody>
      </p:sp>
      <p:sp>
        <p:nvSpPr>
          <p:cNvPr id="16" name="Shape 12"/>
          <p:cNvSpPr/>
          <p:nvPr/>
        </p:nvSpPr>
        <p:spPr>
          <a:xfrm>
            <a:off x="2053828" y="4411266"/>
            <a:ext cx="560784" cy="16073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2053828" y="4411266"/>
            <a:ext cx="560784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Retrieval</a:t>
            </a:r>
            <a:endParaRPr lang="en-US" sz="568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391" y="3070361"/>
            <a:ext cx="107156" cy="1714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357563" y="1454423"/>
            <a:ext cx="2428875" cy="3403327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3357563" y="1454423"/>
            <a:ext cx="2428875" cy="21431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6"/>
          <p:cNvSpPr/>
          <p:nvPr/>
        </p:nvSpPr>
        <p:spPr>
          <a:xfrm>
            <a:off x="4934545" y="1525860"/>
            <a:ext cx="709017" cy="728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38BDF8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4145" dirty="0"/>
          </a:p>
        </p:txBody>
      </p:sp>
      <p:sp>
        <p:nvSpPr>
          <p:cNvPr id="22" name="Shape 17"/>
          <p:cNvSpPr/>
          <p:nvPr/>
        </p:nvSpPr>
        <p:spPr>
          <a:xfrm>
            <a:off x="4286250" y="1740173"/>
            <a:ext cx="571500" cy="57150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1911623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97834" y="2490267"/>
            <a:ext cx="94833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Agent</a:t>
            </a:r>
            <a:endParaRPr lang="en-US" sz="1090" dirty="0"/>
          </a:p>
        </p:txBody>
      </p:sp>
      <p:sp>
        <p:nvSpPr>
          <p:cNvPr id="25" name="Text 19"/>
          <p:cNvSpPr/>
          <p:nvPr/>
        </p:nvSpPr>
        <p:spPr>
          <a:xfrm>
            <a:off x="3976390" y="2763515"/>
            <a:ext cx="11912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2_manual_react_agent.py</a:t>
            </a:r>
            <a:endParaRPr lang="en-US" sz="621" dirty="0"/>
          </a:p>
        </p:txBody>
      </p:sp>
      <p:sp>
        <p:nvSpPr>
          <p:cNvPr id="26" name="Text 20"/>
          <p:cNvSpPr/>
          <p:nvPr/>
        </p:nvSpPr>
        <p:spPr>
          <a:xfrm>
            <a:off x="3571875" y="3018904"/>
            <a:ext cx="200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the AI tools. The agent reasons about a problem, calls a calculator function, observes the result, and answers.</a:t>
            </a:r>
            <a:endParaRPr lang="en-US" sz="780" dirty="0"/>
          </a:p>
        </p:txBody>
      </p:sp>
      <p:sp>
        <p:nvSpPr>
          <p:cNvPr id="27" name="Shape 21"/>
          <p:cNvSpPr/>
          <p:nvPr/>
        </p:nvSpPr>
        <p:spPr>
          <a:xfrm>
            <a:off x="3789759" y="4411266"/>
            <a:ext cx="607219" cy="16073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3789759" y="4411266"/>
            <a:ext cx="607219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ReAct Loop</a:t>
            </a:r>
            <a:endParaRPr lang="en-US" sz="568" dirty="0"/>
          </a:p>
        </p:txBody>
      </p:sp>
      <p:sp>
        <p:nvSpPr>
          <p:cNvPr id="29" name="Shape 23"/>
          <p:cNvSpPr/>
          <p:nvPr/>
        </p:nvSpPr>
        <p:spPr>
          <a:xfrm>
            <a:off x="4454128" y="4411266"/>
            <a:ext cx="514350" cy="16073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4454128" y="4411266"/>
            <a:ext cx="514350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Tool Use</a:t>
            </a:r>
            <a:endParaRPr lang="en-US" sz="568" dirty="0"/>
          </a:p>
        </p:txBody>
      </p:sp>
      <p:sp>
        <p:nvSpPr>
          <p:cNvPr id="31" name="Shape 25"/>
          <p:cNvSpPr/>
          <p:nvPr/>
        </p:nvSpPr>
        <p:spPr>
          <a:xfrm>
            <a:off x="5025628" y="4411266"/>
            <a:ext cx="328613" cy="16073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5025628" y="4411266"/>
            <a:ext cx="328613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JSON</a:t>
            </a:r>
            <a:endParaRPr lang="en-US" sz="568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453" y="3070361"/>
            <a:ext cx="107156" cy="17145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143625" y="1454423"/>
            <a:ext cx="2428875" cy="3403327"/>
          </a:xfrm>
          <a:prstGeom prst="rect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35" name="Shape 28"/>
          <p:cNvSpPr/>
          <p:nvPr/>
        </p:nvSpPr>
        <p:spPr>
          <a:xfrm>
            <a:off x="6143625" y="1454423"/>
            <a:ext cx="2428875" cy="2143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6" name="Text 29"/>
          <p:cNvSpPr/>
          <p:nvPr/>
        </p:nvSpPr>
        <p:spPr>
          <a:xfrm>
            <a:off x="7711678" y="1525860"/>
            <a:ext cx="717947" cy="7286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A78BFA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4145" dirty="0"/>
          </a:p>
        </p:txBody>
      </p:sp>
      <p:sp>
        <p:nvSpPr>
          <p:cNvPr id="37" name="Shape 30"/>
          <p:cNvSpPr/>
          <p:nvPr/>
        </p:nvSpPr>
        <p:spPr>
          <a:xfrm>
            <a:off x="7072313" y="1740173"/>
            <a:ext cx="571500" cy="571500"/>
          </a:xfrm>
          <a:prstGeom prst="ellipse">
            <a:avLst/>
          </a:prstGeom>
          <a:solidFill>
            <a:srgbClr val="A78BFA">
              <a:alpha val="15000"/>
            </a:srgb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475" y="1911623"/>
            <a:ext cx="257175" cy="2286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24935" y="2490267"/>
            <a:ext cx="146625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Multi-Agent Router</a:t>
            </a:r>
            <a:endParaRPr lang="en-US" sz="1090" dirty="0"/>
          </a:p>
        </p:txBody>
      </p:sp>
      <p:sp>
        <p:nvSpPr>
          <p:cNvPr id="40" name="Text 32"/>
          <p:cNvSpPr/>
          <p:nvPr/>
        </p:nvSpPr>
        <p:spPr>
          <a:xfrm>
            <a:off x="6762452" y="2763515"/>
            <a:ext cx="11912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3_multi_agent_router.py</a:t>
            </a:r>
            <a:endParaRPr lang="en-US" sz="621" dirty="0"/>
          </a:p>
        </p:txBody>
      </p:sp>
      <p:sp>
        <p:nvSpPr>
          <p:cNvPr id="41" name="Text 33"/>
          <p:cNvSpPr/>
          <p:nvPr/>
        </p:nvSpPr>
        <p:spPr>
          <a:xfrm>
            <a:off x="6357938" y="3018904"/>
            <a:ext cx="2000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team. A dispatcher agent classifies the query and routes it to the best specialist: Research or Math.</a:t>
            </a:r>
            <a:endParaRPr lang="en-US" sz="780" dirty="0"/>
          </a:p>
        </p:txBody>
      </p:sp>
      <p:sp>
        <p:nvSpPr>
          <p:cNvPr id="42" name="Shape 34"/>
          <p:cNvSpPr/>
          <p:nvPr/>
        </p:nvSpPr>
        <p:spPr>
          <a:xfrm>
            <a:off x="6459736" y="4411266"/>
            <a:ext cx="421481" cy="16073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3" name="Text 35"/>
          <p:cNvSpPr/>
          <p:nvPr/>
        </p:nvSpPr>
        <p:spPr>
          <a:xfrm>
            <a:off x="6459736" y="4411266"/>
            <a:ext cx="421481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Router</a:t>
            </a:r>
            <a:endParaRPr lang="en-US" sz="568" dirty="0"/>
          </a:p>
        </p:txBody>
      </p:sp>
      <p:sp>
        <p:nvSpPr>
          <p:cNvPr id="44" name="Shape 36"/>
          <p:cNvSpPr/>
          <p:nvPr/>
        </p:nvSpPr>
        <p:spPr>
          <a:xfrm>
            <a:off x="6938367" y="4411266"/>
            <a:ext cx="653653" cy="16073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5" name="Text 37"/>
          <p:cNvSpPr/>
          <p:nvPr/>
        </p:nvSpPr>
        <p:spPr>
          <a:xfrm>
            <a:off x="6938367" y="4411266"/>
            <a:ext cx="653653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Specialists</a:t>
            </a:r>
            <a:endParaRPr lang="en-US" sz="568" dirty="0"/>
          </a:p>
        </p:txBody>
      </p:sp>
      <p:sp>
        <p:nvSpPr>
          <p:cNvPr id="46" name="Shape 38"/>
          <p:cNvSpPr/>
          <p:nvPr/>
        </p:nvSpPr>
        <p:spPr>
          <a:xfrm>
            <a:off x="7649170" y="4411266"/>
            <a:ext cx="607219" cy="16073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7" name="Text 39"/>
          <p:cNvSpPr/>
          <p:nvPr/>
        </p:nvSpPr>
        <p:spPr>
          <a:xfrm>
            <a:off x="7649170" y="4411266"/>
            <a:ext cx="607219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Delegation</a:t>
            </a:r>
            <a:endParaRPr lang="en-US" sz="56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903"/>
            <a:ext cx="89297" cy="85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0797" y="357188"/>
            <a:ext cx="13215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 1: SIMPLE RAG</a:t>
            </a:r>
            <a:endParaRPr lang="en-US" sz="621" dirty="0"/>
          </a:p>
        </p:txBody>
      </p:sp>
      <p:sp>
        <p:nvSpPr>
          <p:cNvPr id="5" name="Text 1"/>
          <p:cNvSpPr/>
          <p:nvPr/>
        </p:nvSpPr>
        <p:spPr>
          <a:xfrm>
            <a:off x="571500" y="541139"/>
            <a:ext cx="8001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 Grounds an LLM in Your Private Data,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Eliminating Hallucination on Known Facts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714375" y="1674093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10B981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808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81" y="1675879"/>
            <a:ext cx="107156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07281" y="1893763"/>
            <a:ext cx="19883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</a:t>
            </a:r>
            <a:endParaRPr lang="en-US" sz="885" dirty="0"/>
          </a:p>
        </p:txBody>
      </p:sp>
      <p:sp>
        <p:nvSpPr>
          <p:cNvPr id="9" name="Text 4"/>
          <p:cNvSpPr/>
          <p:nvPr/>
        </p:nvSpPr>
        <p:spPr>
          <a:xfrm>
            <a:off x="1107281" y="2100932"/>
            <a:ext cx="198833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raw text from your knowledge base file.</a:t>
            </a:r>
            <a:endParaRPr lang="en-US" sz="727" dirty="0"/>
          </a:p>
        </p:txBody>
      </p:sp>
      <p:sp>
        <p:nvSpPr>
          <p:cNvPr id="10" name="Shape 5"/>
          <p:cNvSpPr/>
          <p:nvPr/>
        </p:nvSpPr>
        <p:spPr>
          <a:xfrm>
            <a:off x="1107281" y="2458120"/>
            <a:ext cx="1046559" cy="169664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1107281" y="2458120"/>
            <a:ext cx="1046559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knowledge_base.txt</a:t>
            </a:r>
            <a:endParaRPr lang="en-US" sz="621" dirty="0"/>
          </a:p>
        </p:txBody>
      </p:sp>
      <p:sp>
        <p:nvSpPr>
          <p:cNvPr id="12" name="Text 7"/>
          <p:cNvSpPr/>
          <p:nvPr/>
        </p:nvSpPr>
        <p:spPr>
          <a:xfrm>
            <a:off x="3381366" y="1674093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10B981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808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272" y="1675879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74272" y="1893763"/>
            <a:ext cx="19883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Chunk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3774272" y="2100932"/>
            <a:ext cx="198833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the text into smaller, overlapping pieces for processing.</a:t>
            </a:r>
            <a:endParaRPr lang="en-US" sz="727" dirty="0"/>
          </a:p>
        </p:txBody>
      </p:sp>
      <p:sp>
        <p:nvSpPr>
          <p:cNvPr id="16" name="Shape 10"/>
          <p:cNvSpPr/>
          <p:nvPr/>
        </p:nvSpPr>
        <p:spPr>
          <a:xfrm>
            <a:off x="3774272" y="2458120"/>
            <a:ext cx="1201936" cy="169664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3774272" y="2458120"/>
            <a:ext cx="1201936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CharacterTextSplitter</a:t>
            </a:r>
            <a:endParaRPr lang="en-US" sz="621" dirty="0"/>
          </a:p>
        </p:txBody>
      </p:sp>
      <p:sp>
        <p:nvSpPr>
          <p:cNvPr id="18" name="Text 12"/>
          <p:cNvSpPr/>
          <p:nvPr/>
        </p:nvSpPr>
        <p:spPr>
          <a:xfrm>
            <a:off x="6048356" y="1674093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10B981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808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263" y="1675879"/>
            <a:ext cx="125016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41263" y="1893763"/>
            <a:ext cx="19883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Embed</a:t>
            </a:r>
            <a:endParaRPr lang="en-US" sz="885" dirty="0"/>
          </a:p>
        </p:txBody>
      </p:sp>
      <p:sp>
        <p:nvSpPr>
          <p:cNvPr id="21" name="Text 14"/>
          <p:cNvSpPr/>
          <p:nvPr/>
        </p:nvSpPr>
        <p:spPr>
          <a:xfrm>
            <a:off x="6441263" y="2100932"/>
            <a:ext cx="198833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text chunks into numerical vectors using a sentence model.</a:t>
            </a:r>
            <a:endParaRPr lang="en-US" sz="727" dirty="0"/>
          </a:p>
        </p:txBody>
      </p:sp>
      <p:sp>
        <p:nvSpPr>
          <p:cNvPr id="22" name="Shape 15"/>
          <p:cNvSpPr/>
          <p:nvPr/>
        </p:nvSpPr>
        <p:spPr>
          <a:xfrm>
            <a:off x="6441263" y="2458120"/>
            <a:ext cx="942975" cy="169664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6441263" y="2458120"/>
            <a:ext cx="942975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all-MiniLM-L6-v2</a:t>
            </a:r>
            <a:endParaRPr lang="en-US" sz="621" dirty="0"/>
          </a:p>
        </p:txBody>
      </p:sp>
      <p:sp>
        <p:nvSpPr>
          <p:cNvPr id="24" name="Text 17"/>
          <p:cNvSpPr/>
          <p:nvPr/>
        </p:nvSpPr>
        <p:spPr>
          <a:xfrm>
            <a:off x="714375" y="3034643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10B981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808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281" y="3036429"/>
            <a:ext cx="178594" cy="1428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07281" y="3254313"/>
            <a:ext cx="19883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Store</a:t>
            </a:r>
            <a:endParaRPr lang="en-US" sz="885" dirty="0"/>
          </a:p>
        </p:txBody>
      </p:sp>
      <p:sp>
        <p:nvSpPr>
          <p:cNvPr id="27" name="Text 19"/>
          <p:cNvSpPr/>
          <p:nvPr/>
        </p:nvSpPr>
        <p:spPr>
          <a:xfrm>
            <a:off x="1107281" y="3461482"/>
            <a:ext cx="198833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vectors in a FAISS index for fast similarity search.</a:t>
            </a:r>
            <a:endParaRPr lang="en-US" sz="727" dirty="0"/>
          </a:p>
        </p:txBody>
      </p:sp>
      <p:sp>
        <p:nvSpPr>
          <p:cNvPr id="28" name="Shape 20"/>
          <p:cNvSpPr/>
          <p:nvPr/>
        </p:nvSpPr>
        <p:spPr>
          <a:xfrm>
            <a:off x="1107281" y="3818669"/>
            <a:ext cx="1046559" cy="169664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9" name="Text 21"/>
          <p:cNvSpPr/>
          <p:nvPr/>
        </p:nvSpPr>
        <p:spPr>
          <a:xfrm>
            <a:off x="1107281" y="3818669"/>
            <a:ext cx="1046559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FAISS.from_texts()</a:t>
            </a:r>
            <a:endParaRPr lang="en-US" sz="621" dirty="0"/>
          </a:p>
        </p:txBody>
      </p:sp>
      <p:sp>
        <p:nvSpPr>
          <p:cNvPr id="30" name="Text 22"/>
          <p:cNvSpPr/>
          <p:nvPr/>
        </p:nvSpPr>
        <p:spPr>
          <a:xfrm>
            <a:off x="3381366" y="3034643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10B981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808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4272" y="3036429"/>
            <a:ext cx="142875" cy="14287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774272" y="3254313"/>
            <a:ext cx="19883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Retrieve</a:t>
            </a:r>
            <a:endParaRPr lang="en-US" sz="885" dirty="0"/>
          </a:p>
        </p:txBody>
      </p:sp>
      <p:sp>
        <p:nvSpPr>
          <p:cNvPr id="33" name="Text 24"/>
          <p:cNvSpPr/>
          <p:nvPr/>
        </p:nvSpPr>
        <p:spPr>
          <a:xfrm>
            <a:off x="3774272" y="3461482"/>
            <a:ext cx="198833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query arrives, find the most relevant chunks by vector similarity.</a:t>
            </a:r>
            <a:endParaRPr lang="en-US" sz="727" dirty="0"/>
          </a:p>
        </p:txBody>
      </p:sp>
      <p:sp>
        <p:nvSpPr>
          <p:cNvPr id="34" name="Shape 25"/>
          <p:cNvSpPr/>
          <p:nvPr/>
        </p:nvSpPr>
        <p:spPr>
          <a:xfrm>
            <a:off x="3774272" y="3818669"/>
            <a:ext cx="1305520" cy="169664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5" name="Text 26"/>
          <p:cNvSpPr/>
          <p:nvPr/>
        </p:nvSpPr>
        <p:spPr>
          <a:xfrm>
            <a:off x="3774272" y="3818669"/>
            <a:ext cx="1305520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retriever.invoke(query)</a:t>
            </a:r>
            <a:endParaRPr lang="en-US" sz="621" dirty="0"/>
          </a:p>
        </p:txBody>
      </p:sp>
      <p:sp>
        <p:nvSpPr>
          <p:cNvPr id="36" name="Text 27"/>
          <p:cNvSpPr/>
          <p:nvPr/>
        </p:nvSpPr>
        <p:spPr>
          <a:xfrm>
            <a:off x="6048356" y="3034643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10B981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808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263" y="3036429"/>
            <a:ext cx="142875" cy="14287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441263" y="3254313"/>
            <a:ext cx="19883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</a:t>
            </a:r>
            <a:endParaRPr lang="en-US" sz="885" dirty="0"/>
          </a:p>
        </p:txBody>
      </p:sp>
      <p:sp>
        <p:nvSpPr>
          <p:cNvPr id="39" name="Text 29"/>
          <p:cNvSpPr/>
          <p:nvPr/>
        </p:nvSpPr>
        <p:spPr>
          <a:xfrm>
            <a:off x="6441263" y="3461482"/>
            <a:ext cx="198833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query + context to Gemini to generate a grounded answer.</a:t>
            </a:r>
            <a:endParaRPr lang="en-US" sz="727" dirty="0"/>
          </a:p>
        </p:txBody>
      </p:sp>
      <p:sp>
        <p:nvSpPr>
          <p:cNvPr id="40" name="Shape 30"/>
          <p:cNvSpPr/>
          <p:nvPr/>
        </p:nvSpPr>
        <p:spPr>
          <a:xfrm>
            <a:off x="6441263" y="3818669"/>
            <a:ext cx="942975" cy="169664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1" name="Text 31"/>
          <p:cNvSpPr/>
          <p:nvPr/>
        </p:nvSpPr>
        <p:spPr>
          <a:xfrm>
            <a:off x="6441263" y="3818669"/>
            <a:ext cx="942975" cy="16966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gemini-2.5-flash</a:t>
            </a:r>
            <a:endParaRPr lang="en-US" sz="621" dirty="0"/>
          </a:p>
        </p:txBody>
      </p:sp>
      <p:sp>
        <p:nvSpPr>
          <p:cNvPr id="42" name="Shape 32"/>
          <p:cNvSpPr/>
          <p:nvPr/>
        </p:nvSpPr>
        <p:spPr>
          <a:xfrm>
            <a:off x="571500" y="4359473"/>
            <a:ext cx="8001000" cy="498277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3" name="Shape 33"/>
          <p:cNvSpPr/>
          <p:nvPr/>
        </p:nvSpPr>
        <p:spPr>
          <a:xfrm>
            <a:off x="571500" y="4359473"/>
            <a:ext cx="8001000" cy="1428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3" y="4523780"/>
            <a:ext cx="128588" cy="17145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21556" y="4546997"/>
            <a:ext cx="54274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LLM never sees data it was not given. If the answer is not in the context, it says "I don't know."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903"/>
            <a:ext cx="121444" cy="85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2944" y="357188"/>
            <a:ext cx="13215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 1: SIMPLE RAG</a:t>
            </a:r>
            <a:endParaRPr lang="en-US" sz="621" dirty="0"/>
          </a:p>
        </p:txBody>
      </p:sp>
      <p:sp>
        <p:nvSpPr>
          <p:cNvPr id="5" name="Text 1"/>
          <p:cNvSpPr/>
          <p:nvPr/>
        </p:nvSpPr>
        <p:spPr>
          <a:xfrm>
            <a:off x="571500" y="541139"/>
            <a:ext cx="8001000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Core RAG Logic Fits in ~40 Lines of Python</a:t>
            </a:r>
            <a:endParaRPr lang="en-US" sz="1808" dirty="0"/>
          </a:p>
        </p:txBody>
      </p:sp>
      <p:sp>
        <p:nvSpPr>
          <p:cNvPr id="6" name="Shape 2"/>
          <p:cNvSpPr/>
          <p:nvPr/>
        </p:nvSpPr>
        <p:spPr>
          <a:xfrm>
            <a:off x="571500" y="1161194"/>
            <a:ext cx="4634871" cy="3696556"/>
          </a:xfrm>
          <a:prstGeom prst="rect">
            <a:avLst/>
          </a:prstGeom>
          <a:solidFill>
            <a:srgbClr val="1E293B"/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71500" y="1161194"/>
            <a:ext cx="4629150" cy="26253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Shape 4"/>
          <p:cNvSpPr/>
          <p:nvPr/>
        </p:nvSpPr>
        <p:spPr>
          <a:xfrm>
            <a:off x="571500" y="1416583"/>
            <a:ext cx="4629150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5"/>
          <p:cNvSpPr/>
          <p:nvPr/>
        </p:nvSpPr>
        <p:spPr>
          <a:xfrm>
            <a:off x="1135856" y="1232632"/>
            <a:ext cx="77688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1_simple_rag.py</a:t>
            </a:r>
            <a:endParaRPr lang="en-US" sz="621" dirty="0"/>
          </a:p>
        </p:txBody>
      </p:sp>
      <p:sp>
        <p:nvSpPr>
          <p:cNvPr id="10" name="Text 6"/>
          <p:cNvSpPr/>
          <p:nvPr/>
        </p:nvSpPr>
        <p:spPr>
          <a:xfrm>
            <a:off x="571500" y="1416583"/>
            <a:ext cx="4629150" cy="2217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1. Load &amp; Chunk Knowledge Base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load_knowledge_base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(): text_splitter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CharacterTextSplitter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(chunk_size=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D19A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1000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 chunks = text_splitter.split_text(text)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chunks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2. Create Embeddings &amp; Vector Store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create_vector_store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(chunks): embedding_model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SentenceTransformerEmbeddings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model_name=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"all-MiniLM-L6-v2"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) vector_store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FAISS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.from_texts(chunks,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embedding_model)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vector_store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3. Retrieve &amp; Generate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query_rag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(query, vector_store): retriever = vector_store.as_retriever()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relevant_docs = retriever.invoke(query) context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"\n"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.join([d.page_content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d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relevant_docs]) system_prompt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""" Answer based ONLY on the provided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context. If not in context, say 'I do not have enough information'. """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completion = client.chat.completions.create( model=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"gemini-2.5-flash"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messages=[ {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"role"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"system"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"content"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system_prompt}, {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"role"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"user"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"content"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98C37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f"Context:\n{context}\n\nQuery: {query}"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 ] )</a:t>
            </a:r>
            <a:endParaRPr lang="en-US" sz="674" dirty="0"/>
          </a:p>
        </p:txBody>
      </p:sp>
      <p:sp>
        <p:nvSpPr>
          <p:cNvPr id="11" name="Shape 7"/>
          <p:cNvSpPr/>
          <p:nvPr/>
        </p:nvSpPr>
        <p:spPr>
          <a:xfrm>
            <a:off x="5486400" y="1816159"/>
            <a:ext cx="3086100" cy="676480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486400" y="1816159"/>
            <a:ext cx="21431" cy="6764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1939389"/>
            <a:ext cx="114300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00725" y="1923315"/>
            <a:ext cx="5179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Chunking</a:t>
            </a:r>
            <a:endParaRPr lang="en-US" sz="784" dirty="0"/>
          </a:p>
        </p:txBody>
      </p:sp>
      <p:sp>
        <p:nvSpPr>
          <p:cNvPr id="15" name="Text 10"/>
          <p:cNvSpPr/>
          <p:nvPr/>
        </p:nvSpPr>
        <p:spPr>
          <a:xfrm>
            <a:off x="5629275" y="2105481"/>
            <a:ext cx="28003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Splitting text ensures we only send relevant pieces to the LLM, fitting within the context window.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5486400" y="2671232"/>
            <a:ext cx="3086100" cy="676480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0" y="2671232"/>
            <a:ext cx="21431" cy="6764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275" y="2794462"/>
            <a:ext cx="128588" cy="114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15013" y="2778389"/>
            <a:ext cx="7750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Vector Search</a:t>
            </a:r>
            <a:endParaRPr lang="en-US" sz="784" dirty="0"/>
          </a:p>
        </p:txBody>
      </p:sp>
      <p:sp>
        <p:nvSpPr>
          <p:cNvPr id="20" name="Text 14"/>
          <p:cNvSpPr/>
          <p:nvPr/>
        </p:nvSpPr>
        <p:spPr>
          <a:xfrm>
            <a:off x="5629275" y="2960554"/>
            <a:ext cx="28003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FAISS allows us to find semantically similar text in milliseconds, even with millions of documents.</a:t>
            </a:r>
            <a:endParaRPr lang="en-US" sz="727" dirty="0"/>
          </a:p>
        </p:txBody>
      </p:sp>
      <p:sp>
        <p:nvSpPr>
          <p:cNvPr id="21" name="Shape 15"/>
          <p:cNvSpPr/>
          <p:nvPr/>
        </p:nvSpPr>
        <p:spPr>
          <a:xfrm>
            <a:off x="5486400" y="3526306"/>
            <a:ext cx="3086100" cy="676480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5486400" y="3526306"/>
            <a:ext cx="21431" cy="6764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275" y="3649535"/>
            <a:ext cx="114300" cy="1143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00725" y="3633462"/>
            <a:ext cx="7286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Guardrail</a:t>
            </a:r>
            <a:endParaRPr lang="en-US" sz="784" dirty="0"/>
          </a:p>
        </p:txBody>
      </p:sp>
      <p:sp>
        <p:nvSpPr>
          <p:cNvPr id="25" name="Text 18"/>
          <p:cNvSpPr/>
          <p:nvPr/>
        </p:nvSpPr>
        <p:spPr>
          <a:xfrm>
            <a:off x="5629275" y="3815628"/>
            <a:ext cx="28003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prompt explicitly forbids the model from using outside knowledge, preventing hallucinations.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903"/>
            <a:ext cx="110728" cy="85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2228" y="357188"/>
            <a:ext cx="105727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 1: OUTPUT</a:t>
            </a:r>
            <a:endParaRPr lang="en-US" sz="621" dirty="0"/>
          </a:p>
        </p:txBody>
      </p:sp>
      <p:sp>
        <p:nvSpPr>
          <p:cNvPr id="5" name="Text 1"/>
          <p:cNvSpPr/>
          <p:nvPr/>
        </p:nvSpPr>
        <p:spPr>
          <a:xfrm>
            <a:off x="571500" y="541139"/>
            <a:ext cx="8001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RAG System Correctly Answers From Its Knowledge Base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Refuses Unknown Questions</a:t>
            </a:r>
            <a:endParaRPr lang="en-US" sz="1808" dirty="0"/>
          </a:p>
        </p:txBody>
      </p:sp>
      <p:sp>
        <p:nvSpPr>
          <p:cNvPr id="6" name="Shape 2"/>
          <p:cNvSpPr/>
          <p:nvPr/>
        </p:nvSpPr>
        <p:spPr>
          <a:xfrm>
            <a:off x="571500" y="1424062"/>
            <a:ext cx="5148272" cy="34336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71500" y="1424062"/>
            <a:ext cx="5143500" cy="26253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Shape 4"/>
          <p:cNvSpPr/>
          <p:nvPr/>
        </p:nvSpPr>
        <p:spPr>
          <a:xfrm>
            <a:off x="571500" y="1679451"/>
            <a:ext cx="51435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5"/>
          <p:cNvSpPr/>
          <p:nvPr/>
        </p:nvSpPr>
        <p:spPr>
          <a:xfrm>
            <a:off x="1135856" y="1495499"/>
            <a:ext cx="6215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bash — 80x24</a:t>
            </a:r>
            <a:endParaRPr lang="en-US" sz="621" dirty="0"/>
          </a:p>
        </p:txBody>
      </p:sp>
      <p:sp>
        <p:nvSpPr>
          <p:cNvPr id="10" name="Text 6"/>
          <p:cNvSpPr/>
          <p:nvPr/>
        </p:nvSpPr>
        <p:spPr>
          <a:xfrm>
            <a:off x="714375" y="1822326"/>
            <a:ext cx="4857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python3 1_simple_rag.py</a:t>
            </a:r>
            <a:endParaRPr lang="en-US" sz="674" dirty="0"/>
          </a:p>
        </p:txBody>
      </p:sp>
      <p:sp>
        <p:nvSpPr>
          <p:cNvPr id="11" name="Text 7"/>
          <p:cNvSpPr/>
          <p:nvPr/>
        </p:nvSpPr>
        <p:spPr>
          <a:xfrm>
            <a:off x="714375" y="1970894"/>
            <a:ext cx="48577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--- Building Simple RAG System ---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714375" y="2108048"/>
            <a:ext cx="48577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Loaded and split the knowledge base into 1 chunks.</a:t>
            </a:r>
            <a:endParaRPr lang="en-US" sz="621" dirty="0"/>
          </a:p>
        </p:txBody>
      </p:sp>
      <p:sp>
        <p:nvSpPr>
          <p:cNvPr id="13" name="Text 9"/>
          <p:cNvSpPr/>
          <p:nvPr/>
        </p:nvSpPr>
        <p:spPr>
          <a:xfrm>
            <a:off x="714375" y="2245202"/>
            <a:ext cx="48577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Created FAISS vector store.</a:t>
            </a:r>
            <a:endParaRPr lang="en-US" sz="621" dirty="0"/>
          </a:p>
        </p:txBody>
      </p:sp>
      <p:sp>
        <p:nvSpPr>
          <p:cNvPr id="14" name="Text 10"/>
          <p:cNvSpPr/>
          <p:nvPr/>
        </p:nvSpPr>
        <p:spPr>
          <a:xfrm>
            <a:off x="714375" y="2489513"/>
            <a:ext cx="4857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Query: What is the ReAct framework?</a:t>
            </a:r>
            <a:endParaRPr lang="en-US" sz="634" dirty="0"/>
          </a:p>
        </p:txBody>
      </p:sp>
      <p:sp>
        <p:nvSpPr>
          <p:cNvPr id="15" name="Text 11"/>
          <p:cNvSpPr/>
          <p:nvPr/>
        </p:nvSpPr>
        <p:spPr>
          <a:xfrm>
            <a:off x="714375" y="2638081"/>
            <a:ext cx="48577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Retrieving context...</a:t>
            </a:r>
            <a:endParaRPr lang="en-US" sz="621" dirty="0"/>
          </a:p>
        </p:txBody>
      </p:sp>
      <p:sp>
        <p:nvSpPr>
          <p:cNvPr id="16" name="Text 12"/>
          <p:cNvSpPr/>
          <p:nvPr/>
        </p:nvSpPr>
        <p:spPr>
          <a:xfrm>
            <a:off x="714375" y="2810954"/>
            <a:ext cx="4857750" cy="148568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ReAct (Reason and Act) framework, developed by Google researchers, is a popular</a:t>
            </a:r>
            <a:endParaRPr lang="en-US" sz="674" dirty="0"/>
          </a:p>
        </p:txBody>
      </p:sp>
      <p:sp>
        <p:nvSpPr>
          <p:cNvPr id="17" name="Text 13"/>
          <p:cNvSpPr/>
          <p:nvPr/>
        </p:nvSpPr>
        <p:spPr>
          <a:xfrm>
            <a:off x="714375" y="2995240"/>
            <a:ext cx="4857750" cy="148568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method for enabling agents to reason about a task and then act on it using tools.</a:t>
            </a:r>
            <a:endParaRPr lang="en-US" sz="674" dirty="0"/>
          </a:p>
        </p:txBody>
      </p:sp>
      <p:sp>
        <p:nvSpPr>
          <p:cNvPr id="18" name="Text 14"/>
          <p:cNvSpPr/>
          <p:nvPr/>
        </p:nvSpPr>
        <p:spPr>
          <a:xfrm>
            <a:off x="714375" y="3250964"/>
            <a:ext cx="4857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Query: How do multi-agent systems work?</a:t>
            </a:r>
            <a:endParaRPr lang="en-US" sz="634" dirty="0"/>
          </a:p>
        </p:txBody>
      </p:sp>
      <p:sp>
        <p:nvSpPr>
          <p:cNvPr id="19" name="Text 15"/>
          <p:cNvSpPr/>
          <p:nvPr/>
        </p:nvSpPr>
        <p:spPr>
          <a:xfrm>
            <a:off x="714375" y="3399532"/>
            <a:ext cx="48577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Retrieving context...</a:t>
            </a:r>
            <a:endParaRPr lang="en-US" sz="621" dirty="0"/>
          </a:p>
        </p:txBody>
      </p:sp>
      <p:sp>
        <p:nvSpPr>
          <p:cNvPr id="20" name="Text 16"/>
          <p:cNvSpPr/>
          <p:nvPr/>
        </p:nvSpPr>
        <p:spPr>
          <a:xfrm>
            <a:off x="714375" y="3572405"/>
            <a:ext cx="4857750" cy="148568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Multi-agent systems involve a 'dispatcher' or 'router' agent that delegates sub-tasks</a:t>
            </a:r>
            <a:endParaRPr lang="en-US" sz="674" dirty="0"/>
          </a:p>
        </p:txBody>
      </p:sp>
      <p:sp>
        <p:nvSpPr>
          <p:cNvPr id="21" name="Text 17"/>
          <p:cNvSpPr/>
          <p:nvPr/>
        </p:nvSpPr>
        <p:spPr>
          <a:xfrm>
            <a:off x="714375" y="3756692"/>
            <a:ext cx="4857750" cy="148568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to specialized agents...</a:t>
            </a:r>
            <a:endParaRPr lang="en-US" sz="674" dirty="0"/>
          </a:p>
        </p:txBody>
      </p:sp>
      <p:sp>
        <p:nvSpPr>
          <p:cNvPr id="22" name="Text 18"/>
          <p:cNvSpPr/>
          <p:nvPr/>
        </p:nvSpPr>
        <p:spPr>
          <a:xfrm>
            <a:off x="714375" y="4012416"/>
            <a:ext cx="4857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Query: What is the capital of France?</a:t>
            </a:r>
            <a:endParaRPr lang="en-US" sz="634" dirty="0"/>
          </a:p>
        </p:txBody>
      </p:sp>
      <p:sp>
        <p:nvSpPr>
          <p:cNvPr id="23" name="Text 19"/>
          <p:cNvSpPr/>
          <p:nvPr/>
        </p:nvSpPr>
        <p:spPr>
          <a:xfrm>
            <a:off x="714375" y="4160983"/>
            <a:ext cx="48577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Retrieving context...</a:t>
            </a:r>
            <a:endParaRPr lang="en-US" sz="621" dirty="0"/>
          </a:p>
        </p:txBody>
      </p:sp>
      <p:sp>
        <p:nvSpPr>
          <p:cNvPr id="24" name="Text 20"/>
          <p:cNvSpPr/>
          <p:nvPr/>
        </p:nvSpPr>
        <p:spPr>
          <a:xfrm>
            <a:off x="714375" y="4333856"/>
            <a:ext cx="4857750" cy="148568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 do not have enough information to answer that.</a:t>
            </a:r>
            <a:endParaRPr lang="en-US" sz="674" dirty="0"/>
          </a:p>
        </p:txBody>
      </p:sp>
      <p:sp>
        <p:nvSpPr>
          <p:cNvPr id="25" name="Shape 21"/>
          <p:cNvSpPr/>
          <p:nvPr/>
        </p:nvSpPr>
        <p:spPr>
          <a:xfrm>
            <a:off x="6000750" y="2036304"/>
            <a:ext cx="2571750" cy="959048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6000750" y="2036304"/>
            <a:ext cx="28575" cy="959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3"/>
          <p:cNvSpPr/>
          <p:nvPr/>
        </p:nvSpPr>
        <p:spPr>
          <a:xfrm>
            <a:off x="6143625" y="2179179"/>
            <a:ext cx="22860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Grounded Accuracy</a:t>
            </a:r>
            <a:endParaRPr lang="en-US" sz="885" dirty="0"/>
          </a:p>
        </p:txBody>
      </p:sp>
      <p:sp>
        <p:nvSpPr>
          <p:cNvPr id="28" name="Text 24"/>
          <p:cNvSpPr/>
          <p:nvPr/>
        </p:nvSpPr>
        <p:spPr>
          <a:xfrm>
            <a:off x="6143625" y="2414922"/>
            <a:ext cx="20109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first two queries, the system found</a:t>
            </a:r>
            <a:endParaRPr lang="en-US" sz="727" dirty="0"/>
          </a:p>
        </p:txBody>
      </p:sp>
      <p:sp>
        <p:nvSpPr>
          <p:cNvPr id="29" name="Text 25"/>
          <p:cNvSpPr/>
          <p:nvPr/>
        </p:nvSpPr>
        <p:spPr>
          <a:xfrm>
            <a:off x="6143625" y="2566727"/>
            <a:ext cx="8911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chunks in</a:t>
            </a:r>
            <a:endParaRPr lang="en-US" sz="727" dirty="0"/>
          </a:p>
        </p:txBody>
      </p:sp>
      <p:sp>
        <p:nvSpPr>
          <p:cNvPr id="30" name="Text 26"/>
          <p:cNvSpPr/>
          <p:nvPr/>
        </p:nvSpPr>
        <p:spPr>
          <a:xfrm>
            <a:off x="7034808" y="2557797"/>
            <a:ext cx="10801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knowledge_base.txt</a:t>
            </a:r>
            <a:endParaRPr lang="en-US" sz="727" dirty="0"/>
          </a:p>
        </p:txBody>
      </p:sp>
      <p:sp>
        <p:nvSpPr>
          <p:cNvPr id="31" name="Text 27"/>
          <p:cNvSpPr/>
          <p:nvPr/>
        </p:nvSpPr>
        <p:spPr>
          <a:xfrm>
            <a:off x="8114965" y="2566727"/>
            <a:ext cx="20359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727" dirty="0"/>
          </a:p>
        </p:txBody>
      </p:sp>
      <p:sp>
        <p:nvSpPr>
          <p:cNvPr id="32" name="Text 28"/>
          <p:cNvSpPr/>
          <p:nvPr/>
        </p:nvSpPr>
        <p:spPr>
          <a:xfrm>
            <a:off x="6143625" y="2716746"/>
            <a:ext cx="141982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synthesized a correct answer.</a:t>
            </a:r>
            <a:endParaRPr lang="en-US" sz="727" dirty="0"/>
          </a:p>
        </p:txBody>
      </p:sp>
      <p:sp>
        <p:nvSpPr>
          <p:cNvPr id="33" name="Shape 29"/>
          <p:cNvSpPr/>
          <p:nvPr/>
        </p:nvSpPr>
        <p:spPr>
          <a:xfrm>
            <a:off x="6000750" y="3138227"/>
            <a:ext cx="2571750" cy="1107281"/>
          </a:xfrm>
          <a:prstGeom prst="rect">
            <a:avLst/>
          </a:prstGeom>
          <a:solidFill>
            <a:srgbClr val="F59E0B">
              <a:alpha val="5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6000750" y="3138227"/>
            <a:ext cx="28575" cy="110728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1"/>
          <p:cNvSpPr/>
          <p:nvPr/>
        </p:nvSpPr>
        <p:spPr>
          <a:xfrm>
            <a:off x="6143625" y="3281102"/>
            <a:ext cx="22860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9E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Hallucination Prevention</a:t>
            </a:r>
            <a:endParaRPr lang="en-US" sz="885" dirty="0"/>
          </a:p>
        </p:txBody>
      </p:sp>
      <p:sp>
        <p:nvSpPr>
          <p:cNvPr id="36" name="Text 32"/>
          <p:cNvSpPr/>
          <p:nvPr/>
        </p:nvSpPr>
        <p:spPr>
          <a:xfrm>
            <a:off x="6143625" y="3502558"/>
            <a:ext cx="2286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third query, the system found no relevant context. Instead of guessing "Paris" (which the LLM knows but shouldn't say), it correctly refused.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903"/>
            <a:ext cx="100013" cy="85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1513" y="357188"/>
            <a:ext cx="138767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 2: REACT AGENT</a:t>
            </a:r>
            <a:endParaRPr lang="en-US" sz="621" dirty="0"/>
          </a:p>
        </p:txBody>
      </p:sp>
      <p:sp>
        <p:nvSpPr>
          <p:cNvPr id="5" name="Text 1"/>
          <p:cNvSpPr/>
          <p:nvPr/>
        </p:nvSpPr>
        <p:spPr>
          <a:xfrm>
            <a:off x="571500" y="541139"/>
            <a:ext cx="8001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Agent Adds a "Reason + Act" Loop That Lets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LLM Use Tools to Solve Problems</a:t>
            </a:r>
            <a:endParaRPr lang="en-US" sz="1808" dirty="0"/>
          </a:p>
        </p:txBody>
      </p:sp>
      <p:sp>
        <p:nvSpPr>
          <p:cNvPr id="6" name="Text 2"/>
          <p:cNvSpPr/>
          <p:nvPr/>
        </p:nvSpPr>
        <p:spPr>
          <a:xfrm>
            <a:off x="571500" y="1609465"/>
            <a:ext cx="18752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901898" y="1623752"/>
            <a:ext cx="344864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Think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901898" y="1841636"/>
            <a:ext cx="344864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LLM analyzes the user's request and decides if it needs external information or calculation.</a:t>
            </a:r>
            <a:endParaRPr lang="en-US" sz="780" dirty="0"/>
          </a:p>
        </p:txBody>
      </p:sp>
      <p:sp>
        <p:nvSpPr>
          <p:cNvPr id="9" name="Text 5"/>
          <p:cNvSpPr/>
          <p:nvPr/>
        </p:nvSpPr>
        <p:spPr>
          <a:xfrm>
            <a:off x="571500" y="2305980"/>
            <a:ext cx="21252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926902" y="2320268"/>
            <a:ext cx="342364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926902" y="2538152"/>
            <a:ext cx="342364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tool is needed, the LLM outputs a structured JSON command specifying the tool and arguments.</a:t>
            </a:r>
            <a:endParaRPr lang="en-US" sz="780" dirty="0"/>
          </a:p>
        </p:txBody>
      </p:sp>
      <p:sp>
        <p:nvSpPr>
          <p:cNvPr id="12" name="Text 8"/>
          <p:cNvSpPr/>
          <p:nvPr/>
        </p:nvSpPr>
        <p:spPr>
          <a:xfrm>
            <a:off x="571500" y="3002496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928688" y="3016783"/>
            <a:ext cx="34218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Observe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928688" y="3234668"/>
            <a:ext cx="34218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executes the Python function (e.g., calculator) and feeds the result back to the LLM.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571500" y="3699011"/>
            <a:ext cx="21967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8BDF8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193" dirty="0"/>
          </a:p>
        </p:txBody>
      </p:sp>
      <p:sp>
        <p:nvSpPr>
          <p:cNvPr id="16" name="Text 12"/>
          <p:cNvSpPr/>
          <p:nvPr/>
        </p:nvSpPr>
        <p:spPr>
          <a:xfrm>
            <a:off x="934045" y="3713299"/>
            <a:ext cx="341649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</a:t>
            </a:r>
            <a:endParaRPr lang="en-US" sz="987" dirty="0"/>
          </a:p>
        </p:txBody>
      </p:sp>
      <p:sp>
        <p:nvSpPr>
          <p:cNvPr id="17" name="Text 13"/>
          <p:cNvSpPr/>
          <p:nvPr/>
        </p:nvSpPr>
        <p:spPr>
          <a:xfrm>
            <a:off x="934045" y="3931183"/>
            <a:ext cx="341649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new information, the LLM generates the final response for the user.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4779169" y="1498736"/>
            <a:ext cx="3793331" cy="2857500"/>
          </a:xfrm>
          <a:prstGeom prst="rect">
            <a:avLst/>
          </a:prstGeom>
          <a:solidFill>
            <a:srgbClr val="38BDF8">
              <a:alpha val="3000"/>
            </a:srgbClr>
          </a:solidFill>
          <a:ln w="9144">
            <a:solidFill>
              <a:srgbClr val="38BDF8">
                <a:alpha val="20000"/>
              </a:srgbClr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6036469" y="1784486"/>
            <a:ext cx="1285875" cy="839391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681" y="1898786"/>
            <a:ext cx="171450" cy="1714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28495" y="2147032"/>
            <a:ext cx="3018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Think</a:t>
            </a:r>
            <a:endParaRPr lang="en-US" sz="784" dirty="0"/>
          </a:p>
        </p:txBody>
      </p:sp>
      <p:sp>
        <p:nvSpPr>
          <p:cNvPr id="22" name="Shape 17"/>
          <p:cNvSpPr/>
          <p:nvPr/>
        </p:nvSpPr>
        <p:spPr>
          <a:xfrm>
            <a:off x="6215063" y="2350629"/>
            <a:ext cx="928688" cy="15180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6215063" y="2350629"/>
            <a:ext cx="928688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"Need to calc..."</a:t>
            </a:r>
            <a:endParaRPr lang="en-US" sz="516" dirty="0"/>
          </a:p>
        </p:txBody>
      </p:sp>
      <p:sp>
        <p:nvSpPr>
          <p:cNvPr id="24" name="Shape 19"/>
          <p:cNvSpPr/>
          <p:nvPr/>
        </p:nvSpPr>
        <p:spPr>
          <a:xfrm>
            <a:off x="7000875" y="2507791"/>
            <a:ext cx="1285875" cy="839391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372" y="2629235"/>
            <a:ext cx="192881" cy="1714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48265" y="2877480"/>
            <a:ext cx="1910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</a:t>
            </a:r>
            <a:endParaRPr lang="en-US" sz="784" dirty="0"/>
          </a:p>
        </p:txBody>
      </p:sp>
      <p:sp>
        <p:nvSpPr>
          <p:cNvPr id="27" name="Shape 21"/>
          <p:cNvSpPr/>
          <p:nvPr/>
        </p:nvSpPr>
        <p:spPr>
          <a:xfrm>
            <a:off x="7179469" y="3081077"/>
            <a:ext cx="928688" cy="15180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7179469" y="3081077"/>
            <a:ext cx="928688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{"tool": "calc"}</a:t>
            </a:r>
            <a:endParaRPr lang="en-US" sz="516" dirty="0"/>
          </a:p>
        </p:txBody>
      </p:sp>
      <p:sp>
        <p:nvSpPr>
          <p:cNvPr id="29" name="Shape 23"/>
          <p:cNvSpPr/>
          <p:nvPr/>
        </p:nvSpPr>
        <p:spPr>
          <a:xfrm>
            <a:off x="6036469" y="3231096"/>
            <a:ext cx="1285875" cy="839391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966" y="3359683"/>
            <a:ext cx="192881" cy="17145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55271" y="3607929"/>
            <a:ext cx="44827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Observe</a:t>
            </a:r>
            <a:endParaRPr lang="en-US" sz="784" dirty="0"/>
          </a:p>
        </p:txBody>
      </p:sp>
      <p:sp>
        <p:nvSpPr>
          <p:cNvPr id="32" name="Shape 25"/>
          <p:cNvSpPr/>
          <p:nvPr/>
        </p:nvSpPr>
        <p:spPr>
          <a:xfrm>
            <a:off x="6215063" y="3811525"/>
            <a:ext cx="928688" cy="15180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6215063" y="3811525"/>
            <a:ext cx="928688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Result: 42</a:t>
            </a:r>
            <a:endParaRPr lang="en-US" sz="516" dirty="0"/>
          </a:p>
        </p:txBody>
      </p:sp>
      <p:sp>
        <p:nvSpPr>
          <p:cNvPr id="34" name="Shape 27"/>
          <p:cNvSpPr/>
          <p:nvPr/>
        </p:nvSpPr>
        <p:spPr>
          <a:xfrm>
            <a:off x="5072063" y="2507791"/>
            <a:ext cx="1285875" cy="839391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2629235"/>
            <a:ext cx="171450" cy="17145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513189" y="2877480"/>
            <a:ext cx="4036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</a:t>
            </a:r>
            <a:endParaRPr lang="en-US" sz="784" dirty="0"/>
          </a:p>
        </p:txBody>
      </p:sp>
      <p:sp>
        <p:nvSpPr>
          <p:cNvPr id="37" name="Shape 29"/>
          <p:cNvSpPr/>
          <p:nvPr/>
        </p:nvSpPr>
        <p:spPr>
          <a:xfrm>
            <a:off x="5250656" y="3081077"/>
            <a:ext cx="928688" cy="15180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38" name="Text 30"/>
          <p:cNvSpPr/>
          <p:nvPr/>
        </p:nvSpPr>
        <p:spPr>
          <a:xfrm>
            <a:off x="5250656" y="3081077"/>
            <a:ext cx="928688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"It is 42."</a:t>
            </a:r>
            <a:endParaRPr lang="en-US" sz="516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7546804" y="2087771"/>
            <a:ext cx="116086" cy="116086"/>
          </a:xfrm>
          <a:prstGeom prst="rect">
            <a:avLst/>
          </a:prstGeom>
        </p:spPr>
      </p:pic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8100000">
            <a:off x="7520015" y="3642186"/>
            <a:ext cx="133945" cy="133945"/>
          </a:xfrm>
          <a:prstGeom prst="rect">
            <a:avLst/>
          </a:prstGeom>
        </p:spPr>
      </p:pic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8100000">
            <a:off x="5695923" y="3651116"/>
            <a:ext cx="116086" cy="116086"/>
          </a:xfrm>
          <a:prstGeom prst="rect">
            <a:avLst/>
          </a:prstGeom>
        </p:spPr>
      </p:pic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2700000">
            <a:off x="5704852" y="2078841"/>
            <a:ext cx="133945" cy="133945"/>
          </a:xfrm>
          <a:prstGeom prst="rect">
            <a:avLst/>
          </a:prstGeom>
        </p:spPr>
      </p:pic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3656" y="2618519"/>
            <a:ext cx="571500" cy="571500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571500" y="4359473"/>
            <a:ext cx="8001000" cy="498277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5" name="Shape 32"/>
          <p:cNvSpPr/>
          <p:nvPr/>
        </p:nvSpPr>
        <p:spPr>
          <a:xfrm>
            <a:off x="571500" y="4359473"/>
            <a:ext cx="8001000" cy="14288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813" y="4523780"/>
            <a:ext cx="128588" cy="17145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1021556" y="4546997"/>
            <a:ext cx="495061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LLM is the "brain" that decides WHEN and HOW to use tools. We just parse its output.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903"/>
            <a:ext cx="100013" cy="85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1513" y="357188"/>
            <a:ext cx="138767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 2: REACT AGENT</a:t>
            </a:r>
            <a:endParaRPr lang="en-US" sz="621" dirty="0"/>
          </a:p>
        </p:txBody>
      </p:sp>
      <p:sp>
        <p:nvSpPr>
          <p:cNvPr id="5" name="Text 1"/>
          <p:cNvSpPr/>
          <p:nvPr/>
        </p:nvSpPr>
        <p:spPr>
          <a:xfrm>
            <a:off x="571500" y="541139"/>
            <a:ext cx="8001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Entire Agent Loop is a Simple For-Loop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JSON Parsing</a:t>
            </a:r>
            <a:endParaRPr lang="en-US" sz="1808" dirty="0"/>
          </a:p>
        </p:txBody>
      </p:sp>
      <p:sp>
        <p:nvSpPr>
          <p:cNvPr id="6" name="Shape 2"/>
          <p:cNvSpPr/>
          <p:nvPr/>
        </p:nvSpPr>
        <p:spPr>
          <a:xfrm>
            <a:off x="571500" y="1424062"/>
            <a:ext cx="4914900" cy="3433688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71500" y="1424062"/>
            <a:ext cx="4909710" cy="19288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Shape 4"/>
          <p:cNvSpPr/>
          <p:nvPr/>
        </p:nvSpPr>
        <p:spPr>
          <a:xfrm>
            <a:off x="571500" y="1609799"/>
            <a:ext cx="4909710" cy="7144"/>
          </a:xfrm>
          <a:prstGeom prst="rect">
            <a:avLst/>
          </a:prstGeom>
          <a:solidFill>
            <a:srgbClr val="EBF8FE"/>
          </a:solidFill>
          <a:ln/>
        </p:spPr>
      </p:sp>
      <p:sp>
        <p:nvSpPr>
          <p:cNvPr id="9" name="Text 5"/>
          <p:cNvSpPr/>
          <p:nvPr/>
        </p:nvSpPr>
        <p:spPr>
          <a:xfrm>
            <a:off x="571500" y="1609799"/>
            <a:ext cx="4909710" cy="14742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1. The Tool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calculator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(a, b, op):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if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op ==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"add"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 + b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... handles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other ops ...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2. The Prompt (Instructions)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system_prompt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""" You are an agent.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To use a tool, output JSON: {"tool": "calculator", "args": {...}} Otherwise, output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final answer string. """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3. The ReAct Loop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_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range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5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): response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client.chat.completions.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create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(...) text = response.choices[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].message.content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4. </a:t>
            </a:r>
            <a:pPr algn="l" indent="0" marL="0">
              <a:lnSpc>
                <a:spcPts val="1200"/>
              </a:lnSpc>
              <a:buNone/>
            </a:pPr>
            <a:r>
              <a:rPr lang="en-US" sz="674" i="1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Decision Logic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try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action = json.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loads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(text) result =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calculator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(**action[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"args"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]) history.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append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({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"role"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"user"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"content"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result})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except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print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f"Final Answer: {text}"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break</a:t>
            </a:r>
            <a:pPr algn="l" indent="0" marL="0">
              <a:lnSpc>
                <a:spcPts val="1200"/>
              </a:lnSpc>
              <a:buNone/>
            </a:pPr>
            <a:endParaRPr lang="en-US" sz="674" dirty="0"/>
          </a:p>
        </p:txBody>
      </p:sp>
      <p:sp>
        <p:nvSpPr>
          <p:cNvPr id="10" name="Shape 6"/>
          <p:cNvSpPr/>
          <p:nvPr/>
        </p:nvSpPr>
        <p:spPr>
          <a:xfrm>
            <a:off x="5766960" y="1503620"/>
            <a:ext cx="2805540" cy="81648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766960" y="1503620"/>
            <a:ext cx="21431" cy="81648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835" y="1626850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81285" y="1610776"/>
            <a:ext cx="45541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Tool</a:t>
            </a:r>
            <a:endParaRPr lang="en-US" sz="784" dirty="0"/>
          </a:p>
        </p:txBody>
      </p:sp>
      <p:sp>
        <p:nvSpPr>
          <p:cNvPr id="14" name="Text 9"/>
          <p:cNvSpPr/>
          <p:nvPr/>
        </p:nvSpPr>
        <p:spPr>
          <a:xfrm>
            <a:off x="5909835" y="1792942"/>
            <a:ext cx="251979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standard Python function. The agent doesn't "know" Python; it just outputs text that we map to this function.</a:t>
            </a:r>
            <a:endParaRPr lang="en-US" sz="727" dirty="0"/>
          </a:p>
        </p:txBody>
      </p:sp>
      <p:sp>
        <p:nvSpPr>
          <p:cNvPr id="15" name="Shape 10"/>
          <p:cNvSpPr/>
          <p:nvPr/>
        </p:nvSpPr>
        <p:spPr>
          <a:xfrm>
            <a:off x="5766960" y="2462975"/>
            <a:ext cx="2805540" cy="67648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5766960" y="2462975"/>
            <a:ext cx="21431" cy="67648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835" y="2586205"/>
            <a:ext cx="85725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52710" y="2570131"/>
            <a:ext cx="9286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Constitution</a:t>
            </a:r>
            <a:endParaRPr lang="en-US" sz="784" dirty="0"/>
          </a:p>
        </p:txBody>
      </p:sp>
      <p:sp>
        <p:nvSpPr>
          <p:cNvPr id="19" name="Text 13"/>
          <p:cNvSpPr/>
          <p:nvPr/>
        </p:nvSpPr>
        <p:spPr>
          <a:xfrm>
            <a:off x="5909835" y="2752297"/>
            <a:ext cx="251979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prompt forces the LLM into a specific behavior: "Output JSON for tools, text for answers."</a:t>
            </a:r>
            <a:endParaRPr lang="en-US" sz="727" dirty="0"/>
          </a:p>
        </p:txBody>
      </p:sp>
      <p:sp>
        <p:nvSpPr>
          <p:cNvPr id="20" name="Shape 14"/>
          <p:cNvSpPr/>
          <p:nvPr/>
        </p:nvSpPr>
        <p:spPr>
          <a:xfrm>
            <a:off x="5766960" y="3282330"/>
            <a:ext cx="2805540" cy="67648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5766960" y="3282330"/>
            <a:ext cx="21431" cy="67648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9835" y="3405560"/>
            <a:ext cx="114300" cy="1143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81285" y="3389486"/>
            <a:ext cx="5072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Loop</a:t>
            </a:r>
            <a:endParaRPr lang="en-US" sz="784" dirty="0"/>
          </a:p>
        </p:txBody>
      </p:sp>
      <p:sp>
        <p:nvSpPr>
          <p:cNvPr id="24" name="Text 17"/>
          <p:cNvSpPr/>
          <p:nvPr/>
        </p:nvSpPr>
        <p:spPr>
          <a:xfrm>
            <a:off x="5909835" y="3571652"/>
            <a:ext cx="251979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give the agent 5 turns to think and act. This prevents infinite loops if it gets stuck.</a:t>
            </a:r>
            <a:endParaRPr lang="en-US" sz="727" dirty="0"/>
          </a:p>
        </p:txBody>
      </p:sp>
      <p:sp>
        <p:nvSpPr>
          <p:cNvPr id="25" name="Shape 18"/>
          <p:cNvSpPr/>
          <p:nvPr/>
        </p:nvSpPr>
        <p:spPr>
          <a:xfrm>
            <a:off x="5766960" y="4101685"/>
            <a:ext cx="2805540" cy="67648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5766960" y="4101685"/>
            <a:ext cx="21431" cy="67648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9835" y="4224914"/>
            <a:ext cx="100013" cy="1143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66997" y="4208841"/>
            <a:ext cx="58043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Parser</a:t>
            </a:r>
            <a:endParaRPr lang="en-US" sz="784" dirty="0"/>
          </a:p>
        </p:txBody>
      </p:sp>
      <p:sp>
        <p:nvSpPr>
          <p:cNvPr id="29" name="Text 21"/>
          <p:cNvSpPr/>
          <p:nvPr/>
        </p:nvSpPr>
        <p:spPr>
          <a:xfrm>
            <a:off x="5909835" y="4391006"/>
            <a:ext cx="251979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output parses as JSON, we execute the tool. If not, we treat it as the final answer.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903"/>
            <a:ext cx="100013" cy="85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1513" y="357188"/>
            <a:ext cx="138767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 2: REACT AGENT</a:t>
            </a:r>
            <a:endParaRPr lang="en-US" sz="621" dirty="0"/>
          </a:p>
        </p:txBody>
      </p:sp>
      <p:sp>
        <p:nvSpPr>
          <p:cNvPr id="5" name="Text 1"/>
          <p:cNvSpPr/>
          <p:nvPr/>
        </p:nvSpPr>
        <p:spPr>
          <a:xfrm>
            <a:off x="571500" y="541139"/>
            <a:ext cx="8001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Agent Autonomously Chains Two Tool Calls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Solve a Multi-Step Problem</a:t>
            </a:r>
            <a:endParaRPr lang="en-US" sz="1808" dirty="0"/>
          </a:p>
        </p:txBody>
      </p:sp>
      <p:sp>
        <p:nvSpPr>
          <p:cNvPr id="6" name="Shape 2"/>
          <p:cNvSpPr/>
          <p:nvPr/>
        </p:nvSpPr>
        <p:spPr>
          <a:xfrm>
            <a:off x="571500" y="1424062"/>
            <a:ext cx="5243513" cy="3433688"/>
          </a:xfrm>
          <a:prstGeom prst="rect">
            <a:avLst/>
          </a:prstGeom>
          <a:solidFill>
            <a:srgbClr val="1E293B"/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4375" y="1745531"/>
            <a:ext cx="49529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User Query: If I have 5000 dollars and I spend 13.5% of it, how much is left?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714375" y="2024137"/>
            <a:ext cx="12144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--- Agent Turn 1 ---</a:t>
            </a:r>
            <a:endParaRPr lang="en-US" sz="727" dirty="0"/>
          </a:p>
        </p:txBody>
      </p:sp>
      <p:sp>
        <p:nvSpPr>
          <p:cNvPr id="9" name="Text 5"/>
          <p:cNvSpPr/>
          <p:nvPr/>
        </p:nvSpPr>
        <p:spPr>
          <a:xfrm>
            <a:off x="714375" y="2217018"/>
            <a:ext cx="49529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Thinking... I need to calculate the amount spent first.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714375" y="2424187"/>
            <a:ext cx="49529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Action: Call `calculator` (5000, 0.135, 'multiply')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714375" y="2631356"/>
            <a:ext cx="49529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Observation: 675.0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714375" y="2909962"/>
            <a:ext cx="12144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--- Agent Turn 2 ---</a:t>
            </a:r>
            <a:endParaRPr lang="en-US" sz="727" dirty="0"/>
          </a:p>
        </p:txBody>
      </p:sp>
      <p:sp>
        <p:nvSpPr>
          <p:cNvPr id="13" name="Text 9"/>
          <p:cNvSpPr/>
          <p:nvPr/>
        </p:nvSpPr>
        <p:spPr>
          <a:xfrm>
            <a:off x="714375" y="3102843"/>
            <a:ext cx="49529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Thinking... Now I need to subtract the spent amount from the total.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714375" y="3310012"/>
            <a:ext cx="49529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Action: Call `calculator` (5000, 675.0, 'subtract')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714375" y="3517181"/>
            <a:ext cx="49529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Observation: 4325.0</a:t>
            </a:r>
            <a:endParaRPr lang="en-US" sz="727" dirty="0"/>
          </a:p>
        </p:txBody>
      </p:sp>
      <p:sp>
        <p:nvSpPr>
          <p:cNvPr id="16" name="Text 12"/>
          <p:cNvSpPr/>
          <p:nvPr/>
        </p:nvSpPr>
        <p:spPr>
          <a:xfrm>
            <a:off x="714375" y="3795787"/>
            <a:ext cx="12144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--- Agent Turn 3 ---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714375" y="3988668"/>
            <a:ext cx="49529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Thinking... I have the final result.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714375" y="4195837"/>
            <a:ext cx="4952991" cy="178594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714375" y="4195837"/>
            <a:ext cx="4952991" cy="178594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Final Answer: You have 4325.0 dollars left.</a:t>
            </a:r>
            <a:endParaRPr lang="en-US" sz="683" dirty="0"/>
          </a:p>
        </p:txBody>
      </p:sp>
      <p:sp>
        <p:nvSpPr>
          <p:cNvPr id="20" name="Shape 16"/>
          <p:cNvSpPr/>
          <p:nvPr/>
        </p:nvSpPr>
        <p:spPr>
          <a:xfrm>
            <a:off x="6095991" y="1562137"/>
            <a:ext cx="2476509" cy="957263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095991" y="1562137"/>
            <a:ext cx="28575" cy="957263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66" y="1722872"/>
            <a:ext cx="144661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4964" y="1705012"/>
            <a:ext cx="93583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Decomposition</a:t>
            </a:r>
            <a:endParaRPr lang="en-US" sz="885" dirty="0"/>
          </a:p>
        </p:txBody>
      </p:sp>
      <p:sp>
        <p:nvSpPr>
          <p:cNvPr id="24" name="Text 19"/>
          <p:cNvSpPr/>
          <p:nvPr/>
        </p:nvSpPr>
        <p:spPr>
          <a:xfrm>
            <a:off x="6238866" y="1926468"/>
            <a:ext cx="21907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recognized that "how much is left" implies a two-step process: calculate the percentage, then subtract it.</a:t>
            </a:r>
            <a:endParaRPr lang="en-US" sz="727" dirty="0"/>
          </a:p>
        </p:txBody>
      </p:sp>
      <p:sp>
        <p:nvSpPr>
          <p:cNvPr id="25" name="Shape 20"/>
          <p:cNvSpPr/>
          <p:nvPr/>
        </p:nvSpPr>
        <p:spPr>
          <a:xfrm>
            <a:off x="6095991" y="2662275"/>
            <a:ext cx="2476509" cy="957263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6095991" y="2662275"/>
            <a:ext cx="28575" cy="957263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66" y="2823009"/>
            <a:ext cx="144661" cy="128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54964" y="2805150"/>
            <a:ext cx="114835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 Retention</a:t>
            </a:r>
            <a:endParaRPr lang="en-US" sz="885" dirty="0"/>
          </a:p>
        </p:txBody>
      </p:sp>
      <p:sp>
        <p:nvSpPr>
          <p:cNvPr id="29" name="Text 23"/>
          <p:cNvSpPr/>
          <p:nvPr/>
        </p:nvSpPr>
        <p:spPr>
          <a:xfrm>
            <a:off x="6238866" y="3026606"/>
            <a:ext cx="21907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how the result of the first step (675.0) was automatically passed as an argument to the second step.</a:t>
            </a:r>
            <a:endParaRPr lang="en-US" sz="727" dirty="0"/>
          </a:p>
        </p:txBody>
      </p:sp>
      <p:sp>
        <p:nvSpPr>
          <p:cNvPr id="30" name="Shape 24"/>
          <p:cNvSpPr/>
          <p:nvPr/>
        </p:nvSpPr>
        <p:spPr>
          <a:xfrm>
            <a:off x="6095991" y="3762412"/>
            <a:ext cx="2476509" cy="957263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6095991" y="3762412"/>
            <a:ext cx="28575" cy="957263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66" y="3923147"/>
            <a:ext cx="160734" cy="128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471038" y="3905287"/>
            <a:ext cx="116800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Emergent Planning</a:t>
            </a:r>
            <a:endParaRPr lang="en-US" sz="885" dirty="0"/>
          </a:p>
        </p:txBody>
      </p:sp>
      <p:sp>
        <p:nvSpPr>
          <p:cNvPr id="34" name="Text 27"/>
          <p:cNvSpPr/>
          <p:nvPr/>
        </p:nvSpPr>
        <p:spPr>
          <a:xfrm>
            <a:off x="6238866" y="4126743"/>
            <a:ext cx="21907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didn't program this specific logic. The "planning" emerged from the ReAct loop and the LLM's reasoning capabilities.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903"/>
            <a:ext cx="110728" cy="85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2228" y="357188"/>
            <a:ext cx="185023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 3: MULTI-AGENT ROUTER</a:t>
            </a:r>
            <a:endParaRPr lang="en-US" sz="621" dirty="0"/>
          </a:p>
        </p:txBody>
      </p:sp>
      <p:sp>
        <p:nvSpPr>
          <p:cNvPr id="5" name="Text 1"/>
          <p:cNvSpPr/>
          <p:nvPr/>
        </p:nvSpPr>
        <p:spPr>
          <a:xfrm>
            <a:off x="571500" y="541139"/>
            <a:ext cx="8001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Router Agent Classifies Intent and Delegates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Specialized Agents for Expert Handling</a:t>
            </a:r>
            <a:endParaRPr lang="en-US" sz="1808" dirty="0"/>
          </a:p>
        </p:txBody>
      </p:sp>
      <p:sp>
        <p:nvSpPr>
          <p:cNvPr id="6" name="Shape 2"/>
          <p:cNvSpPr/>
          <p:nvPr/>
        </p:nvSpPr>
        <p:spPr>
          <a:xfrm>
            <a:off x="571500" y="2273303"/>
            <a:ext cx="1571625" cy="1165492"/>
          </a:xfrm>
          <a:prstGeom prst="rect">
            <a:avLst/>
          </a:prstGeom>
          <a:solidFill>
            <a:srgbClr val="1E293B"/>
          </a:solidFill>
          <a:ln w="9144">
            <a:solidFill>
              <a:srgbClr val="64748B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430466"/>
            <a:ext cx="200025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17116" y="2793011"/>
            <a:ext cx="28039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</a:t>
            </a:r>
            <a:endParaRPr lang="en-US" sz="885" dirty="0"/>
          </a:p>
        </p:txBody>
      </p:sp>
      <p:sp>
        <p:nvSpPr>
          <p:cNvPr id="9" name="Text 4"/>
          <p:cNvSpPr/>
          <p:nvPr/>
        </p:nvSpPr>
        <p:spPr>
          <a:xfrm>
            <a:off x="714375" y="3028755"/>
            <a:ext cx="12858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Asks a complex or specific question.</a:t>
            </a:r>
            <a:endParaRPr lang="en-US" sz="674" dirty="0"/>
          </a:p>
        </p:txBody>
      </p:sp>
      <p:sp>
        <p:nvSpPr>
          <p:cNvPr id="10" name="Shape 5"/>
          <p:cNvSpPr/>
          <p:nvPr/>
        </p:nvSpPr>
        <p:spPr>
          <a:xfrm>
            <a:off x="3071813" y="2273303"/>
            <a:ext cx="1571625" cy="1165492"/>
          </a:xfrm>
          <a:prstGeom prst="rect">
            <a:avLst/>
          </a:prstGeom>
          <a:solidFill>
            <a:srgbClr val="A78BFA">
              <a:alpha val="5000"/>
            </a:srgbClr>
          </a:solidFill>
          <a:ln w="9144">
            <a:solidFill>
              <a:srgbClr val="A78BFA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188" y="2430466"/>
            <a:ext cx="142875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43288" y="2793011"/>
            <a:ext cx="8286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Router Agent</a:t>
            </a:r>
            <a:endParaRPr lang="en-US" sz="885" dirty="0"/>
          </a:p>
        </p:txBody>
      </p:sp>
      <p:sp>
        <p:nvSpPr>
          <p:cNvPr id="13" name="Text 7"/>
          <p:cNvSpPr/>
          <p:nvPr/>
        </p:nvSpPr>
        <p:spPr>
          <a:xfrm>
            <a:off x="3214688" y="3028755"/>
            <a:ext cx="128587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Analyzes intent: "Is this math or research?"</a:t>
            </a:r>
            <a:endParaRPr lang="en-US" sz="674" dirty="0"/>
          </a:p>
        </p:txBody>
      </p:sp>
      <p:sp>
        <p:nvSpPr>
          <p:cNvPr id="14" name="Shape 8"/>
          <p:cNvSpPr/>
          <p:nvPr/>
        </p:nvSpPr>
        <p:spPr>
          <a:xfrm>
            <a:off x="7000875" y="1638374"/>
            <a:ext cx="1571625" cy="1167278"/>
          </a:xfrm>
          <a:prstGeom prst="rect">
            <a:avLst/>
          </a:prstGeom>
          <a:solidFill>
            <a:srgbClr val="1E293B"/>
          </a:solidFill>
          <a:ln w="9144">
            <a:solidFill>
              <a:srgbClr val="10B981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1788393"/>
            <a:ext cx="257175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94662" y="2150938"/>
            <a:ext cx="98405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Research Agent</a:t>
            </a:r>
            <a:endParaRPr lang="en-US" sz="885" dirty="0"/>
          </a:p>
        </p:txBody>
      </p:sp>
      <p:sp>
        <p:nvSpPr>
          <p:cNvPr id="17" name="Text 10"/>
          <p:cNvSpPr/>
          <p:nvPr/>
        </p:nvSpPr>
        <p:spPr>
          <a:xfrm>
            <a:off x="7278560" y="2393826"/>
            <a:ext cx="101619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Specialist: RAG System</a:t>
            </a:r>
            <a:endParaRPr lang="en-US" sz="674" dirty="0"/>
          </a:p>
        </p:txBody>
      </p:sp>
      <p:sp>
        <p:nvSpPr>
          <p:cNvPr id="18" name="Text 11"/>
          <p:cNvSpPr/>
          <p:nvPr/>
        </p:nvSpPr>
        <p:spPr>
          <a:xfrm>
            <a:off x="7161944" y="2525623"/>
            <a:ext cx="24645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</a:t>
            </a:r>
            <a:endParaRPr lang="en-US" sz="674" dirty="0"/>
          </a:p>
        </p:txBody>
      </p:sp>
      <p:sp>
        <p:nvSpPr>
          <p:cNvPr id="19" name="Text 12"/>
          <p:cNvSpPr/>
          <p:nvPr/>
        </p:nvSpPr>
        <p:spPr>
          <a:xfrm>
            <a:off x="7408404" y="2516693"/>
            <a:ext cx="100299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knowledge_base.txt</a:t>
            </a:r>
            <a:endParaRPr lang="en-US" sz="674" dirty="0"/>
          </a:p>
        </p:txBody>
      </p:sp>
      <p:sp>
        <p:nvSpPr>
          <p:cNvPr id="20" name="Shape 13"/>
          <p:cNvSpPr/>
          <p:nvPr/>
        </p:nvSpPr>
        <p:spPr>
          <a:xfrm>
            <a:off x="7000875" y="2906446"/>
            <a:ext cx="1571625" cy="1167278"/>
          </a:xfrm>
          <a:prstGeom prst="rect">
            <a:avLst/>
          </a:prstGeom>
          <a:solidFill>
            <a:srgbClr val="1E293B"/>
          </a:solidFill>
          <a:ln w="9144">
            <a:solidFill>
              <a:srgbClr val="38BDF8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0963" y="3070752"/>
            <a:ext cx="17145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423249" y="3433297"/>
            <a:ext cx="72687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Math Agent</a:t>
            </a:r>
            <a:endParaRPr lang="en-US" sz="885" dirty="0"/>
          </a:p>
        </p:txBody>
      </p:sp>
      <p:sp>
        <p:nvSpPr>
          <p:cNvPr id="23" name="Text 15"/>
          <p:cNvSpPr/>
          <p:nvPr/>
        </p:nvSpPr>
        <p:spPr>
          <a:xfrm>
            <a:off x="7276802" y="3676185"/>
            <a:ext cx="10197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Specialist: ReAct Agent</a:t>
            </a:r>
            <a:endParaRPr lang="en-US" sz="674" dirty="0"/>
          </a:p>
        </p:txBody>
      </p:sp>
      <p:sp>
        <p:nvSpPr>
          <p:cNvPr id="24" name="Text 16"/>
          <p:cNvSpPr/>
          <p:nvPr/>
        </p:nvSpPr>
        <p:spPr>
          <a:xfrm>
            <a:off x="7290169" y="3807982"/>
            <a:ext cx="24645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</a:t>
            </a:r>
            <a:endParaRPr lang="en-US" sz="674" dirty="0"/>
          </a:p>
        </p:txBody>
      </p:sp>
      <p:sp>
        <p:nvSpPr>
          <p:cNvPr id="25" name="Text 17"/>
          <p:cNvSpPr/>
          <p:nvPr/>
        </p:nvSpPr>
        <p:spPr>
          <a:xfrm>
            <a:off x="7536628" y="3799052"/>
            <a:ext cx="55724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calculator</a:t>
            </a:r>
            <a:endParaRPr lang="en-US" sz="674" dirty="0"/>
          </a:p>
        </p:txBody>
      </p:sp>
      <p:sp>
        <p:nvSpPr>
          <p:cNvPr id="26" name="Text 18"/>
          <p:cNvSpPr/>
          <p:nvPr/>
        </p:nvSpPr>
        <p:spPr>
          <a:xfrm>
            <a:off x="8093869" y="3807982"/>
            <a:ext cx="18930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674" dirty="0"/>
          </a:p>
        </p:txBody>
      </p:sp>
      <p:sp>
        <p:nvSpPr>
          <p:cNvPr id="27" name="Shape 19"/>
          <p:cNvSpPr/>
          <p:nvPr/>
        </p:nvSpPr>
        <p:spPr>
          <a:xfrm>
            <a:off x="4857750" y="2747190"/>
            <a:ext cx="825103" cy="17502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857750" y="2747190"/>
            <a:ext cx="825103" cy="17502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Classify Intent</a:t>
            </a:r>
            <a:endParaRPr lang="en-US" sz="568" dirty="0"/>
          </a:p>
        </p:txBody>
      </p:sp>
      <p:sp>
        <p:nvSpPr>
          <p:cNvPr id="29" name="Shape 21"/>
          <p:cNvSpPr/>
          <p:nvPr/>
        </p:nvSpPr>
        <p:spPr>
          <a:xfrm>
            <a:off x="571500" y="4359473"/>
            <a:ext cx="8001000" cy="498277"/>
          </a:xfrm>
          <a:prstGeom prst="rect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30" name="Shape 22"/>
          <p:cNvSpPr/>
          <p:nvPr/>
        </p:nvSpPr>
        <p:spPr>
          <a:xfrm>
            <a:off x="571500" y="4359473"/>
            <a:ext cx="8001000" cy="14288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4523780"/>
            <a:ext cx="128588" cy="1714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21556" y="4546997"/>
            <a:ext cx="54185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"Divide and Conquer": Instead of one generalist trying to do everything, we route tasks to experts.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903"/>
            <a:ext cx="110728" cy="85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2228" y="357188"/>
            <a:ext cx="185023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BUILD 3: MULTI-AGENT ROUTER</a:t>
            </a:r>
            <a:endParaRPr lang="en-US" sz="621" dirty="0"/>
          </a:p>
        </p:txBody>
      </p:sp>
      <p:sp>
        <p:nvSpPr>
          <p:cNvPr id="5" name="Text 1"/>
          <p:cNvSpPr/>
          <p:nvPr/>
        </p:nvSpPr>
        <p:spPr>
          <a:xfrm>
            <a:off x="571500" y="541139"/>
            <a:ext cx="8001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Router Correctly Classifies and Delegates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Different Query Types</a:t>
            </a:r>
            <a:endParaRPr lang="en-US" sz="1808" dirty="0"/>
          </a:p>
        </p:txBody>
      </p:sp>
      <p:sp>
        <p:nvSpPr>
          <p:cNvPr id="6" name="Shape 2"/>
          <p:cNvSpPr/>
          <p:nvPr/>
        </p:nvSpPr>
        <p:spPr>
          <a:xfrm>
            <a:off x="571500" y="1424062"/>
            <a:ext cx="5205422" cy="3433688"/>
          </a:xfrm>
          <a:prstGeom prst="rect">
            <a:avLst/>
          </a:prstGeom>
          <a:solidFill>
            <a:srgbClr val="1E293B"/>
          </a:solidFill>
          <a:ln w="9144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7225" y="1688381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User Query: What is a multi-agent system?</a:t>
            </a:r>
            <a:endParaRPr lang="en-US" sz="634" dirty="0"/>
          </a:p>
        </p:txBody>
      </p:sp>
      <p:sp>
        <p:nvSpPr>
          <p:cNvPr id="8" name="Text 4"/>
          <p:cNvSpPr/>
          <p:nvPr/>
        </p:nvSpPr>
        <p:spPr>
          <a:xfrm>
            <a:off x="657225" y="1870546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i="1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Router thinking... Which agent is best for this?</a:t>
            </a:r>
            <a:endParaRPr lang="en-US" sz="674" dirty="0"/>
          </a:p>
        </p:txBody>
      </p:sp>
      <p:sp>
        <p:nvSpPr>
          <p:cNvPr id="9" name="Text 5"/>
          <p:cNvSpPr/>
          <p:nvPr/>
        </p:nvSpPr>
        <p:spPr>
          <a:xfrm>
            <a:off x="657225" y="2052712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Router decided: ResearchAgent</a:t>
            </a:r>
            <a:endParaRPr lang="en-US" sz="634" dirty="0"/>
          </a:p>
        </p:txBody>
      </p:sp>
      <p:sp>
        <p:nvSpPr>
          <p:cNvPr id="10" name="Text 6"/>
          <p:cNvSpPr/>
          <p:nvPr/>
        </p:nvSpPr>
        <p:spPr>
          <a:xfrm>
            <a:off x="657225" y="2234878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--- Delegating to ResearchAgent ---</a:t>
            </a:r>
            <a:endParaRPr lang="en-US" sz="674" dirty="0"/>
          </a:p>
        </p:txBody>
      </p:sp>
      <p:sp>
        <p:nvSpPr>
          <p:cNvPr id="11" name="Text 7"/>
          <p:cNvSpPr/>
          <p:nvPr/>
        </p:nvSpPr>
        <p:spPr>
          <a:xfrm>
            <a:off x="657225" y="2417043"/>
            <a:ext cx="5029200" cy="278606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&gt;&gt;&gt; Final Answer: A multi-agent system involves a 'dispatcher' or 'router' agent that delegates sub-tasks...</a:t>
            </a:r>
            <a:endParaRPr lang="en-US" sz="674" dirty="0"/>
          </a:p>
        </p:txBody>
      </p:sp>
      <p:sp>
        <p:nvSpPr>
          <p:cNvPr id="12" name="Text 8"/>
          <p:cNvSpPr/>
          <p:nvPr/>
        </p:nvSpPr>
        <p:spPr>
          <a:xfrm>
            <a:off x="657225" y="2802806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User Query: What is 50 plus 50?</a:t>
            </a:r>
            <a:endParaRPr lang="en-US" sz="634" dirty="0"/>
          </a:p>
        </p:txBody>
      </p:sp>
      <p:sp>
        <p:nvSpPr>
          <p:cNvPr id="13" name="Text 9"/>
          <p:cNvSpPr/>
          <p:nvPr/>
        </p:nvSpPr>
        <p:spPr>
          <a:xfrm>
            <a:off x="657225" y="2984971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i="1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Router thinking... Which agent is best for this?</a:t>
            </a:r>
            <a:endParaRPr lang="en-US" sz="674" dirty="0"/>
          </a:p>
        </p:txBody>
      </p:sp>
      <p:sp>
        <p:nvSpPr>
          <p:cNvPr id="14" name="Text 10"/>
          <p:cNvSpPr/>
          <p:nvPr/>
        </p:nvSpPr>
        <p:spPr>
          <a:xfrm>
            <a:off x="657225" y="3167137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Router decided: MathAgent</a:t>
            </a:r>
            <a:endParaRPr lang="en-US" sz="634" dirty="0"/>
          </a:p>
        </p:txBody>
      </p:sp>
      <p:sp>
        <p:nvSpPr>
          <p:cNvPr id="15" name="Text 11"/>
          <p:cNvSpPr/>
          <p:nvPr/>
        </p:nvSpPr>
        <p:spPr>
          <a:xfrm>
            <a:off x="657225" y="3349303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--- Delegating to MathAgent ---</a:t>
            </a:r>
            <a:endParaRPr lang="en-US" sz="674" dirty="0"/>
          </a:p>
        </p:txBody>
      </p:sp>
      <p:sp>
        <p:nvSpPr>
          <p:cNvPr id="16" name="Text 12"/>
          <p:cNvSpPr/>
          <p:nvPr/>
        </p:nvSpPr>
        <p:spPr>
          <a:xfrm>
            <a:off x="657225" y="3531468"/>
            <a:ext cx="5029200" cy="13930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&gt;&gt;&gt; Final Answer: The result of 50 plus 50 is 100.</a:t>
            </a:r>
            <a:endParaRPr lang="en-US" sz="674" dirty="0"/>
          </a:p>
        </p:txBody>
      </p:sp>
      <p:sp>
        <p:nvSpPr>
          <p:cNvPr id="17" name="Text 13"/>
          <p:cNvSpPr/>
          <p:nvPr/>
        </p:nvSpPr>
        <p:spPr>
          <a:xfrm>
            <a:off x="657225" y="3777928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User Query: Explain the ReAct framework.</a:t>
            </a:r>
            <a:endParaRPr lang="en-US" sz="634" dirty="0"/>
          </a:p>
        </p:txBody>
      </p:sp>
      <p:sp>
        <p:nvSpPr>
          <p:cNvPr id="18" name="Text 14"/>
          <p:cNvSpPr/>
          <p:nvPr/>
        </p:nvSpPr>
        <p:spPr>
          <a:xfrm>
            <a:off x="657225" y="3960093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i="1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Router thinking... Which agent is best for this?</a:t>
            </a:r>
            <a:endParaRPr lang="en-US" sz="674" dirty="0"/>
          </a:p>
        </p:txBody>
      </p:sp>
      <p:sp>
        <p:nvSpPr>
          <p:cNvPr id="19" name="Text 15"/>
          <p:cNvSpPr/>
          <p:nvPr/>
        </p:nvSpPr>
        <p:spPr>
          <a:xfrm>
            <a:off x="657225" y="4142259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A78BF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Router decided: ResearchAgent</a:t>
            </a:r>
            <a:endParaRPr lang="en-US" sz="634" dirty="0"/>
          </a:p>
        </p:txBody>
      </p:sp>
      <p:sp>
        <p:nvSpPr>
          <p:cNvPr id="20" name="Text 16"/>
          <p:cNvSpPr/>
          <p:nvPr/>
        </p:nvSpPr>
        <p:spPr>
          <a:xfrm>
            <a:off x="657225" y="4324424"/>
            <a:ext cx="50292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59E0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--- Delegating to ResearchAgent ---</a:t>
            </a:r>
            <a:endParaRPr lang="en-US" sz="674" dirty="0"/>
          </a:p>
        </p:txBody>
      </p:sp>
      <p:sp>
        <p:nvSpPr>
          <p:cNvPr id="21" name="Text 17"/>
          <p:cNvSpPr/>
          <p:nvPr/>
        </p:nvSpPr>
        <p:spPr>
          <a:xfrm>
            <a:off x="657225" y="4506590"/>
            <a:ext cx="5029200" cy="13930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&gt;&gt;&gt; Final Answer: The ReAct framework, developed by Google researchers...</a:t>
            </a:r>
            <a:endParaRPr lang="en-US" sz="674" dirty="0"/>
          </a:p>
        </p:txBody>
      </p:sp>
      <p:sp>
        <p:nvSpPr>
          <p:cNvPr id="22" name="Shape 18"/>
          <p:cNvSpPr/>
          <p:nvPr/>
        </p:nvSpPr>
        <p:spPr>
          <a:xfrm>
            <a:off x="6057900" y="1733587"/>
            <a:ext cx="2514600" cy="842963"/>
          </a:xfrm>
          <a:prstGeom prst="rect">
            <a:avLst/>
          </a:prstGeom>
          <a:solidFill>
            <a:srgbClr val="A78BFA">
              <a:alpha val="5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6057900" y="1733587"/>
            <a:ext cx="28575" cy="842963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5" y="1837172"/>
            <a:ext cx="128588" cy="128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43650" y="1819312"/>
            <a:ext cx="125372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Intent Classification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6143625" y="2040768"/>
            <a:ext cx="23431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Router Agent acts as a semantic classifier. It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doesn't solve the problem itself; it understands </a:t>
            </a:r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 solve it.</a:t>
            </a:r>
            <a:endParaRPr lang="en-US" sz="727" dirty="0"/>
          </a:p>
        </p:txBody>
      </p:sp>
      <p:sp>
        <p:nvSpPr>
          <p:cNvPr id="27" name="Shape 22"/>
          <p:cNvSpPr/>
          <p:nvPr/>
        </p:nvSpPr>
        <p:spPr>
          <a:xfrm>
            <a:off x="6057900" y="2719425"/>
            <a:ext cx="2514600" cy="842963"/>
          </a:xfrm>
          <a:prstGeom prst="rect">
            <a:avLst/>
          </a:prstGeom>
          <a:solidFill>
            <a:srgbClr val="A78BFA">
              <a:alpha val="5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6057900" y="2719425"/>
            <a:ext cx="28575" cy="842963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25" y="2823009"/>
            <a:ext cx="112514" cy="128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27577" y="2805150"/>
            <a:ext cx="87332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Specialization</a:t>
            </a:r>
            <a:endParaRPr lang="en-US" sz="885" dirty="0"/>
          </a:p>
        </p:txBody>
      </p:sp>
      <p:sp>
        <p:nvSpPr>
          <p:cNvPr id="31" name="Text 25"/>
          <p:cNvSpPr/>
          <p:nvPr/>
        </p:nvSpPr>
        <p:spPr>
          <a:xfrm>
            <a:off x="6143625" y="3026606"/>
            <a:ext cx="23431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delegating to specialists, we ensure that math problems go to a calculator and knowledge questions go to the RAG system.</a:t>
            </a:r>
            <a:endParaRPr lang="en-US" sz="727" dirty="0"/>
          </a:p>
        </p:txBody>
      </p:sp>
      <p:sp>
        <p:nvSpPr>
          <p:cNvPr id="32" name="Shape 26"/>
          <p:cNvSpPr/>
          <p:nvPr/>
        </p:nvSpPr>
        <p:spPr>
          <a:xfrm>
            <a:off x="6057900" y="3705262"/>
            <a:ext cx="2514600" cy="842963"/>
          </a:xfrm>
          <a:prstGeom prst="rect">
            <a:avLst/>
          </a:prstGeom>
          <a:solidFill>
            <a:srgbClr val="A78BFA">
              <a:alpha val="500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6057900" y="3705262"/>
            <a:ext cx="28575" cy="842963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5" y="3808847"/>
            <a:ext cx="128588" cy="1285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343650" y="3790987"/>
            <a:ext cx="65901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Scalability</a:t>
            </a:r>
            <a:endParaRPr lang="en-US" sz="885" dirty="0"/>
          </a:p>
        </p:txBody>
      </p:sp>
      <p:sp>
        <p:nvSpPr>
          <p:cNvPr id="36" name="Text 29"/>
          <p:cNvSpPr/>
          <p:nvPr/>
        </p:nvSpPr>
        <p:spPr>
          <a:xfrm>
            <a:off x="6143625" y="4012443"/>
            <a:ext cx="23431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 add 10 more agents (e.g., "EmailAgent", "CalendarAgent") just by updating the Router's prompt.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903"/>
            <a:ext cx="100013" cy="85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1513" y="357188"/>
            <a:ext cx="5286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SUMMARY</a:t>
            </a:r>
            <a:endParaRPr lang="en-US" sz="621" dirty="0"/>
          </a:p>
        </p:txBody>
      </p:sp>
      <p:sp>
        <p:nvSpPr>
          <p:cNvPr id="5" name="Text 1"/>
          <p:cNvSpPr/>
          <p:nvPr/>
        </p:nvSpPr>
        <p:spPr>
          <a:xfrm>
            <a:off x="571500" y="541139"/>
            <a:ext cx="8001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Build Adds a New Dimension: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Knowledge, Action, and Collaboration</a:t>
            </a:r>
            <a:endParaRPr lang="en-US" sz="1808" dirty="0"/>
          </a:p>
        </p:txBody>
      </p:sp>
      <p:sp>
        <p:nvSpPr>
          <p:cNvPr id="6" name="Shape 2"/>
          <p:cNvSpPr/>
          <p:nvPr/>
        </p:nvSpPr>
        <p:spPr>
          <a:xfrm>
            <a:off x="578644" y="1502643"/>
            <a:ext cx="1996678" cy="471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3"/>
          <p:cNvSpPr/>
          <p:nvPr/>
        </p:nvSpPr>
        <p:spPr>
          <a:xfrm>
            <a:off x="578644" y="1966987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Text 4"/>
          <p:cNvSpPr/>
          <p:nvPr/>
        </p:nvSpPr>
        <p:spPr>
          <a:xfrm>
            <a:off x="578644" y="1502643"/>
            <a:ext cx="1996678" cy="471488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CAPABILITY</a:t>
            </a:r>
            <a:endParaRPr lang="en-US" sz="885" dirty="0"/>
          </a:p>
        </p:txBody>
      </p:sp>
      <p:sp>
        <p:nvSpPr>
          <p:cNvPr id="9" name="Shape 5"/>
          <p:cNvSpPr/>
          <p:nvPr/>
        </p:nvSpPr>
        <p:spPr>
          <a:xfrm>
            <a:off x="2575322" y="1502643"/>
            <a:ext cx="1996678" cy="471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6"/>
          <p:cNvSpPr/>
          <p:nvPr/>
        </p:nvSpPr>
        <p:spPr>
          <a:xfrm>
            <a:off x="2575322" y="1952699"/>
            <a:ext cx="1996678" cy="214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7"/>
          <p:cNvSpPr/>
          <p:nvPr/>
        </p:nvSpPr>
        <p:spPr>
          <a:xfrm>
            <a:off x="2575322" y="1502643"/>
            <a:ext cx="7144" cy="471488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916" y="1670521"/>
            <a:ext cx="119658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73573" y="1656234"/>
            <a:ext cx="3107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</a:t>
            </a:r>
            <a:endParaRPr lang="en-US" sz="885" dirty="0"/>
          </a:p>
        </p:txBody>
      </p:sp>
      <p:sp>
        <p:nvSpPr>
          <p:cNvPr id="14" name="Shape 9"/>
          <p:cNvSpPr/>
          <p:nvPr/>
        </p:nvSpPr>
        <p:spPr>
          <a:xfrm>
            <a:off x="4572000" y="1502643"/>
            <a:ext cx="1996678" cy="471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0"/>
          <p:cNvSpPr/>
          <p:nvPr/>
        </p:nvSpPr>
        <p:spPr>
          <a:xfrm>
            <a:off x="4572000" y="1952699"/>
            <a:ext cx="1996678" cy="21431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Shape 11"/>
          <p:cNvSpPr/>
          <p:nvPr/>
        </p:nvSpPr>
        <p:spPr>
          <a:xfrm>
            <a:off x="4572000" y="1502643"/>
            <a:ext cx="7144" cy="471488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594" y="1670521"/>
            <a:ext cx="135731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86325" y="1656234"/>
            <a:ext cx="47327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</a:t>
            </a:r>
            <a:endParaRPr lang="en-US" sz="885" dirty="0"/>
          </a:p>
        </p:txBody>
      </p:sp>
      <p:sp>
        <p:nvSpPr>
          <p:cNvPr id="19" name="Shape 13"/>
          <p:cNvSpPr/>
          <p:nvPr/>
        </p:nvSpPr>
        <p:spPr>
          <a:xfrm>
            <a:off x="6568678" y="1502643"/>
            <a:ext cx="1996678" cy="471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4"/>
          <p:cNvSpPr/>
          <p:nvPr/>
        </p:nvSpPr>
        <p:spPr>
          <a:xfrm>
            <a:off x="6568678" y="1952699"/>
            <a:ext cx="1996678" cy="2143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Shape 15"/>
          <p:cNvSpPr/>
          <p:nvPr/>
        </p:nvSpPr>
        <p:spPr>
          <a:xfrm>
            <a:off x="6568678" y="1502643"/>
            <a:ext cx="7144" cy="471488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272" y="1659806"/>
            <a:ext cx="151805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99077" y="1645518"/>
            <a:ext cx="93761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MULTI-AGENT</a:t>
            </a:r>
            <a:endParaRPr lang="en-US" sz="885" dirty="0"/>
          </a:p>
        </p:txBody>
      </p:sp>
      <p:sp>
        <p:nvSpPr>
          <p:cNvPr id="24" name="Shape 17"/>
          <p:cNvSpPr/>
          <p:nvPr/>
        </p:nvSpPr>
        <p:spPr>
          <a:xfrm>
            <a:off x="578644" y="1952699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578644" y="2375967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Text 19"/>
          <p:cNvSpPr/>
          <p:nvPr/>
        </p:nvSpPr>
        <p:spPr>
          <a:xfrm>
            <a:off x="578644" y="1952699"/>
            <a:ext cx="1996678" cy="430411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Function</a:t>
            </a:r>
            <a:endParaRPr lang="en-US" sz="784" dirty="0"/>
          </a:p>
        </p:txBody>
      </p:sp>
      <p:sp>
        <p:nvSpPr>
          <p:cNvPr id="27" name="Shape 20"/>
          <p:cNvSpPr/>
          <p:nvPr/>
        </p:nvSpPr>
        <p:spPr>
          <a:xfrm>
            <a:off x="2575322" y="1952699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2575322" y="2375967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9" name="Shape 22"/>
          <p:cNvSpPr/>
          <p:nvPr/>
        </p:nvSpPr>
        <p:spPr>
          <a:xfrm>
            <a:off x="2575322" y="1952699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0" name="Text 23"/>
          <p:cNvSpPr/>
          <p:nvPr/>
        </p:nvSpPr>
        <p:spPr>
          <a:xfrm>
            <a:off x="2575322" y="1952699"/>
            <a:ext cx="1996678" cy="430411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</a:t>
            </a:r>
            <a:endParaRPr lang="en-US" sz="834" dirty="0"/>
          </a:p>
        </p:txBody>
      </p:sp>
      <p:sp>
        <p:nvSpPr>
          <p:cNvPr id="31" name="Shape 24"/>
          <p:cNvSpPr/>
          <p:nvPr/>
        </p:nvSpPr>
        <p:spPr>
          <a:xfrm>
            <a:off x="4572000" y="1952699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32" name="Shape 25"/>
          <p:cNvSpPr/>
          <p:nvPr/>
        </p:nvSpPr>
        <p:spPr>
          <a:xfrm>
            <a:off x="4572000" y="2375967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3" name="Shape 26"/>
          <p:cNvSpPr/>
          <p:nvPr/>
        </p:nvSpPr>
        <p:spPr>
          <a:xfrm>
            <a:off x="4572000" y="1952699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4" name="Text 27"/>
          <p:cNvSpPr/>
          <p:nvPr/>
        </p:nvSpPr>
        <p:spPr>
          <a:xfrm>
            <a:off x="4572000" y="1952699"/>
            <a:ext cx="1996678" cy="430411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Loop</a:t>
            </a:r>
            <a:endParaRPr lang="en-US" sz="834" dirty="0"/>
          </a:p>
        </p:txBody>
      </p:sp>
      <p:sp>
        <p:nvSpPr>
          <p:cNvPr id="35" name="Shape 28"/>
          <p:cNvSpPr/>
          <p:nvPr/>
        </p:nvSpPr>
        <p:spPr>
          <a:xfrm>
            <a:off x="6568678" y="1952699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6568678" y="2375967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7" name="Shape 30"/>
          <p:cNvSpPr/>
          <p:nvPr/>
        </p:nvSpPr>
        <p:spPr>
          <a:xfrm>
            <a:off x="6568678" y="1952699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8" name="Text 31"/>
          <p:cNvSpPr/>
          <p:nvPr/>
        </p:nvSpPr>
        <p:spPr>
          <a:xfrm>
            <a:off x="6568678" y="1952699"/>
            <a:ext cx="1996678" cy="430411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</a:t>
            </a:r>
            <a:endParaRPr lang="en-US" sz="834" dirty="0"/>
          </a:p>
        </p:txBody>
      </p:sp>
      <p:sp>
        <p:nvSpPr>
          <p:cNvPr id="39" name="Shape 32"/>
          <p:cNvSpPr/>
          <p:nvPr/>
        </p:nvSpPr>
        <p:spPr>
          <a:xfrm>
            <a:off x="578644" y="2375967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40" name="Shape 33"/>
          <p:cNvSpPr/>
          <p:nvPr/>
        </p:nvSpPr>
        <p:spPr>
          <a:xfrm>
            <a:off x="578644" y="2799234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1" name="Text 34"/>
          <p:cNvSpPr/>
          <p:nvPr/>
        </p:nvSpPr>
        <p:spPr>
          <a:xfrm>
            <a:off x="578644" y="2375967"/>
            <a:ext cx="1996678" cy="430411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Data</a:t>
            </a:r>
            <a:endParaRPr lang="en-US" sz="784" dirty="0"/>
          </a:p>
        </p:txBody>
      </p:sp>
      <p:sp>
        <p:nvSpPr>
          <p:cNvPr id="42" name="Shape 35"/>
          <p:cNvSpPr/>
          <p:nvPr/>
        </p:nvSpPr>
        <p:spPr>
          <a:xfrm>
            <a:off x="2575322" y="2375967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43" name="Shape 36"/>
          <p:cNvSpPr/>
          <p:nvPr/>
        </p:nvSpPr>
        <p:spPr>
          <a:xfrm>
            <a:off x="2575322" y="2799234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4" name="Shape 37"/>
          <p:cNvSpPr/>
          <p:nvPr/>
        </p:nvSpPr>
        <p:spPr>
          <a:xfrm>
            <a:off x="2575322" y="2375967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3916" y="2533129"/>
            <a:ext cx="114300" cy="1143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957513" y="2522413"/>
            <a:ext cx="2018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784" dirty="0"/>
          </a:p>
        </p:txBody>
      </p:sp>
      <p:sp>
        <p:nvSpPr>
          <p:cNvPr id="47" name="Shape 39"/>
          <p:cNvSpPr/>
          <p:nvPr/>
        </p:nvSpPr>
        <p:spPr>
          <a:xfrm>
            <a:off x="4572000" y="2375967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48" name="Shape 40"/>
          <p:cNvSpPr/>
          <p:nvPr/>
        </p:nvSpPr>
        <p:spPr>
          <a:xfrm>
            <a:off x="4572000" y="2799234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9" name="Shape 41"/>
          <p:cNvSpPr/>
          <p:nvPr/>
        </p:nvSpPr>
        <p:spPr>
          <a:xfrm>
            <a:off x="4572000" y="2375967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4750594" y="2533129"/>
            <a:ext cx="71438" cy="11430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4879181" y="2522413"/>
            <a:ext cx="1857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834" dirty="0"/>
          </a:p>
        </p:txBody>
      </p:sp>
      <p:sp>
        <p:nvSpPr>
          <p:cNvPr id="52" name="Shape 43"/>
          <p:cNvSpPr/>
          <p:nvPr/>
        </p:nvSpPr>
        <p:spPr>
          <a:xfrm>
            <a:off x="6568678" y="2375967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53" name="Shape 44"/>
          <p:cNvSpPr/>
          <p:nvPr/>
        </p:nvSpPr>
        <p:spPr>
          <a:xfrm>
            <a:off x="6568678" y="2799234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4" name="Shape 45"/>
          <p:cNvSpPr/>
          <p:nvPr/>
        </p:nvSpPr>
        <p:spPr>
          <a:xfrm>
            <a:off x="6568678" y="2375967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7272" y="2529557"/>
            <a:ext cx="114300" cy="11430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6918722" y="2518842"/>
            <a:ext cx="105370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(via Specialist)</a:t>
            </a:r>
            <a:endParaRPr lang="en-US" sz="834" dirty="0"/>
          </a:p>
        </p:txBody>
      </p:sp>
      <p:sp>
        <p:nvSpPr>
          <p:cNvPr id="57" name="Shape 47"/>
          <p:cNvSpPr/>
          <p:nvPr/>
        </p:nvSpPr>
        <p:spPr>
          <a:xfrm>
            <a:off x="578644" y="2799234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58" name="Shape 48"/>
          <p:cNvSpPr/>
          <p:nvPr/>
        </p:nvSpPr>
        <p:spPr>
          <a:xfrm>
            <a:off x="578644" y="3222501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9" name="Text 49"/>
          <p:cNvSpPr/>
          <p:nvPr/>
        </p:nvSpPr>
        <p:spPr>
          <a:xfrm>
            <a:off x="578644" y="2799234"/>
            <a:ext cx="1996678" cy="430411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Use</a:t>
            </a:r>
            <a:endParaRPr lang="en-US" sz="784" dirty="0"/>
          </a:p>
        </p:txBody>
      </p:sp>
      <p:sp>
        <p:nvSpPr>
          <p:cNvPr id="60" name="Shape 50"/>
          <p:cNvSpPr/>
          <p:nvPr/>
        </p:nvSpPr>
        <p:spPr>
          <a:xfrm>
            <a:off x="2575322" y="2799234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61" name="Shape 51"/>
          <p:cNvSpPr/>
          <p:nvPr/>
        </p:nvSpPr>
        <p:spPr>
          <a:xfrm>
            <a:off x="2575322" y="3222501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2" name="Shape 52"/>
          <p:cNvSpPr/>
          <p:nvPr/>
        </p:nvSpPr>
        <p:spPr>
          <a:xfrm>
            <a:off x="2575322" y="2799234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2753916" y="2956396"/>
            <a:ext cx="71438" cy="114300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2882503" y="2945681"/>
            <a:ext cx="1857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834" dirty="0"/>
          </a:p>
        </p:txBody>
      </p:sp>
      <p:sp>
        <p:nvSpPr>
          <p:cNvPr id="65" name="Shape 54"/>
          <p:cNvSpPr/>
          <p:nvPr/>
        </p:nvSpPr>
        <p:spPr>
          <a:xfrm>
            <a:off x="4572000" y="2799234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66" name="Shape 55"/>
          <p:cNvSpPr/>
          <p:nvPr/>
        </p:nvSpPr>
        <p:spPr>
          <a:xfrm>
            <a:off x="4572000" y="3222501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7" name="Shape 56"/>
          <p:cNvSpPr/>
          <p:nvPr/>
        </p:nvSpPr>
        <p:spPr>
          <a:xfrm>
            <a:off x="4572000" y="2799234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6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0594" y="2956396"/>
            <a:ext cx="114300" cy="114300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4954191" y="2945681"/>
            <a:ext cx="2018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784" dirty="0"/>
          </a:p>
        </p:txBody>
      </p:sp>
      <p:sp>
        <p:nvSpPr>
          <p:cNvPr id="70" name="Shape 58"/>
          <p:cNvSpPr/>
          <p:nvPr/>
        </p:nvSpPr>
        <p:spPr>
          <a:xfrm>
            <a:off x="6568678" y="2799234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71" name="Shape 59"/>
          <p:cNvSpPr/>
          <p:nvPr/>
        </p:nvSpPr>
        <p:spPr>
          <a:xfrm>
            <a:off x="6568678" y="3222501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2" name="Shape 60"/>
          <p:cNvSpPr/>
          <p:nvPr/>
        </p:nvSpPr>
        <p:spPr>
          <a:xfrm>
            <a:off x="6568678" y="2799234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7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7272" y="2952824"/>
            <a:ext cx="114300" cy="114300"/>
          </a:xfrm>
          <a:prstGeom prst="rect">
            <a:avLst/>
          </a:prstGeom>
        </p:spPr>
      </p:pic>
      <p:sp>
        <p:nvSpPr>
          <p:cNvPr id="74" name="Text 61"/>
          <p:cNvSpPr/>
          <p:nvPr/>
        </p:nvSpPr>
        <p:spPr>
          <a:xfrm>
            <a:off x="6918722" y="2942109"/>
            <a:ext cx="105370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(via Specialist)</a:t>
            </a:r>
            <a:endParaRPr lang="en-US" sz="834" dirty="0"/>
          </a:p>
        </p:txBody>
      </p:sp>
      <p:sp>
        <p:nvSpPr>
          <p:cNvPr id="75" name="Shape 62"/>
          <p:cNvSpPr/>
          <p:nvPr/>
        </p:nvSpPr>
        <p:spPr>
          <a:xfrm>
            <a:off x="578644" y="3222501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76" name="Shape 63"/>
          <p:cNvSpPr/>
          <p:nvPr/>
        </p:nvSpPr>
        <p:spPr>
          <a:xfrm>
            <a:off x="578644" y="3645768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7" name="Text 64"/>
          <p:cNvSpPr/>
          <p:nvPr/>
        </p:nvSpPr>
        <p:spPr>
          <a:xfrm>
            <a:off x="578644" y="3222501"/>
            <a:ext cx="1996678" cy="430411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endParaRPr lang="en-US" sz="784" dirty="0"/>
          </a:p>
        </p:txBody>
      </p:sp>
      <p:sp>
        <p:nvSpPr>
          <p:cNvPr id="78" name="Shape 65"/>
          <p:cNvSpPr/>
          <p:nvPr/>
        </p:nvSpPr>
        <p:spPr>
          <a:xfrm>
            <a:off x="2575322" y="3222501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79" name="Shape 66"/>
          <p:cNvSpPr/>
          <p:nvPr/>
        </p:nvSpPr>
        <p:spPr>
          <a:xfrm>
            <a:off x="2575322" y="3645768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0" name="Shape 67"/>
          <p:cNvSpPr/>
          <p:nvPr/>
        </p:nvSpPr>
        <p:spPr>
          <a:xfrm>
            <a:off x="2575322" y="3222501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1" name="Text 68"/>
          <p:cNvSpPr/>
          <p:nvPr/>
        </p:nvSpPr>
        <p:spPr>
          <a:xfrm>
            <a:off x="2575322" y="3222501"/>
            <a:ext cx="1996678" cy="430411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(Linear)</a:t>
            </a:r>
            <a:endParaRPr lang="en-US" sz="834" dirty="0"/>
          </a:p>
        </p:txBody>
      </p:sp>
      <p:sp>
        <p:nvSpPr>
          <p:cNvPr id="82" name="Shape 69"/>
          <p:cNvSpPr/>
          <p:nvPr/>
        </p:nvSpPr>
        <p:spPr>
          <a:xfrm>
            <a:off x="4572000" y="3222501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83" name="Shape 70"/>
          <p:cNvSpPr/>
          <p:nvPr/>
        </p:nvSpPr>
        <p:spPr>
          <a:xfrm>
            <a:off x="4572000" y="3645768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4" name="Shape 71"/>
          <p:cNvSpPr/>
          <p:nvPr/>
        </p:nvSpPr>
        <p:spPr>
          <a:xfrm>
            <a:off x="4572000" y="3222501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5" name="Text 72"/>
          <p:cNvSpPr/>
          <p:nvPr/>
        </p:nvSpPr>
        <p:spPr>
          <a:xfrm>
            <a:off x="4572000" y="3222501"/>
            <a:ext cx="1996678" cy="430411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Single-Threaded</a:t>
            </a:r>
            <a:endParaRPr lang="en-US" sz="834" dirty="0"/>
          </a:p>
        </p:txBody>
      </p:sp>
      <p:sp>
        <p:nvSpPr>
          <p:cNvPr id="86" name="Shape 73"/>
          <p:cNvSpPr/>
          <p:nvPr/>
        </p:nvSpPr>
        <p:spPr>
          <a:xfrm>
            <a:off x="6568678" y="3222501"/>
            <a:ext cx="1996678" cy="430411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87" name="Shape 74"/>
          <p:cNvSpPr/>
          <p:nvPr/>
        </p:nvSpPr>
        <p:spPr>
          <a:xfrm>
            <a:off x="6568678" y="3645768"/>
            <a:ext cx="1996678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8" name="Shape 75"/>
          <p:cNvSpPr/>
          <p:nvPr/>
        </p:nvSpPr>
        <p:spPr>
          <a:xfrm>
            <a:off x="6568678" y="3222501"/>
            <a:ext cx="7144" cy="430411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9" name="Text 76"/>
          <p:cNvSpPr/>
          <p:nvPr/>
        </p:nvSpPr>
        <p:spPr>
          <a:xfrm>
            <a:off x="6747272" y="3365376"/>
            <a:ext cx="10697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/ Delegated</a:t>
            </a:r>
            <a:endParaRPr lang="en-US" sz="784" dirty="0"/>
          </a:p>
        </p:txBody>
      </p:sp>
      <p:sp>
        <p:nvSpPr>
          <p:cNvPr id="90" name="Shape 77"/>
          <p:cNvSpPr/>
          <p:nvPr/>
        </p:nvSpPr>
        <p:spPr>
          <a:xfrm>
            <a:off x="578644" y="3645768"/>
            <a:ext cx="1996678" cy="423267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91" name="Text 78"/>
          <p:cNvSpPr/>
          <p:nvPr/>
        </p:nvSpPr>
        <p:spPr>
          <a:xfrm>
            <a:off x="578644" y="3645768"/>
            <a:ext cx="1996678" cy="423267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</a:t>
            </a:r>
            <a:endParaRPr lang="en-US" sz="784" dirty="0"/>
          </a:p>
        </p:txBody>
      </p:sp>
      <p:sp>
        <p:nvSpPr>
          <p:cNvPr id="92" name="Shape 79"/>
          <p:cNvSpPr/>
          <p:nvPr/>
        </p:nvSpPr>
        <p:spPr>
          <a:xfrm>
            <a:off x="2575322" y="3645768"/>
            <a:ext cx="1996678" cy="423267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93" name="Shape 80"/>
          <p:cNvSpPr/>
          <p:nvPr/>
        </p:nvSpPr>
        <p:spPr>
          <a:xfrm>
            <a:off x="2575322" y="3645768"/>
            <a:ext cx="7144" cy="42326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4" name="Text 81"/>
          <p:cNvSpPr/>
          <p:nvPr/>
        </p:nvSpPr>
        <p:spPr>
          <a:xfrm>
            <a:off x="2575322" y="3645768"/>
            <a:ext cx="1996678" cy="423267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by Context</a:t>
            </a:r>
            <a:endParaRPr lang="en-US" sz="834" dirty="0"/>
          </a:p>
        </p:txBody>
      </p:sp>
      <p:sp>
        <p:nvSpPr>
          <p:cNvPr id="95" name="Shape 82"/>
          <p:cNvSpPr/>
          <p:nvPr/>
        </p:nvSpPr>
        <p:spPr>
          <a:xfrm>
            <a:off x="4572000" y="3645768"/>
            <a:ext cx="1996678" cy="423267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96" name="Shape 83"/>
          <p:cNvSpPr/>
          <p:nvPr/>
        </p:nvSpPr>
        <p:spPr>
          <a:xfrm>
            <a:off x="4572000" y="3645768"/>
            <a:ext cx="7144" cy="42326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7" name="Text 84"/>
          <p:cNvSpPr/>
          <p:nvPr/>
        </p:nvSpPr>
        <p:spPr>
          <a:xfrm>
            <a:off x="4572000" y="3645768"/>
            <a:ext cx="1996678" cy="423267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by Complexity</a:t>
            </a:r>
            <a:endParaRPr lang="en-US" sz="834" dirty="0"/>
          </a:p>
        </p:txBody>
      </p:sp>
      <p:sp>
        <p:nvSpPr>
          <p:cNvPr id="98" name="Shape 85"/>
          <p:cNvSpPr/>
          <p:nvPr/>
        </p:nvSpPr>
        <p:spPr>
          <a:xfrm>
            <a:off x="6568678" y="3645768"/>
            <a:ext cx="1996678" cy="423267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</p:sp>
      <p:sp>
        <p:nvSpPr>
          <p:cNvPr id="99" name="Shape 86"/>
          <p:cNvSpPr/>
          <p:nvPr/>
        </p:nvSpPr>
        <p:spPr>
          <a:xfrm>
            <a:off x="6568678" y="3645768"/>
            <a:ext cx="7144" cy="423267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0" name="Text 87"/>
          <p:cNvSpPr/>
          <p:nvPr/>
        </p:nvSpPr>
        <p:spPr>
          <a:xfrm>
            <a:off x="6747272" y="3788643"/>
            <a:ext cx="8286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(Modular)</a:t>
            </a:r>
            <a:endParaRPr lang="en-US" sz="784" dirty="0"/>
          </a:p>
        </p:txBody>
      </p:sp>
      <p:sp>
        <p:nvSpPr>
          <p:cNvPr id="101" name="Shape 88"/>
          <p:cNvSpPr/>
          <p:nvPr/>
        </p:nvSpPr>
        <p:spPr>
          <a:xfrm>
            <a:off x="571500" y="4366617"/>
            <a:ext cx="8001000" cy="49113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2" name="Shape 89"/>
          <p:cNvSpPr/>
          <p:nvPr/>
        </p:nvSpPr>
        <p:spPr>
          <a:xfrm>
            <a:off x="571500" y="4366617"/>
            <a:ext cx="8001000" cy="71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813" y="4523780"/>
            <a:ext cx="171450" cy="171450"/>
          </a:xfrm>
          <a:prstGeom prst="rect">
            <a:avLst/>
          </a:prstGeom>
        </p:spPr>
      </p:pic>
      <p:sp>
        <p:nvSpPr>
          <p:cNvPr id="104" name="Text 90"/>
          <p:cNvSpPr/>
          <p:nvPr/>
        </p:nvSpPr>
        <p:spPr>
          <a:xfrm>
            <a:off x="1064419" y="4546997"/>
            <a:ext cx="64740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try to build a "God Agent" that does everything. Use RAG for knowledge, Agents for tasks, and Routers to scale.</a:t>
            </a:r>
            <a:endParaRPr lang="en-US" sz="7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7903"/>
            <a:ext cx="100013" cy="85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1513" y="357188"/>
            <a:ext cx="79295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 STARTED</a:t>
            </a:r>
            <a:endParaRPr lang="en-US" sz="621" dirty="0"/>
          </a:p>
        </p:txBody>
      </p:sp>
      <p:sp>
        <p:nvSpPr>
          <p:cNvPr id="5" name="Text 1"/>
          <p:cNvSpPr/>
          <p:nvPr/>
        </p:nvSpPr>
        <p:spPr>
          <a:xfrm>
            <a:off x="571500" y="541139"/>
            <a:ext cx="800100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All Three Scripts in Under 5 Minutes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a Free API Key</a:t>
            </a:r>
            <a:endParaRPr lang="en-US" sz="1808" dirty="0"/>
          </a:p>
        </p:txBody>
      </p:sp>
      <p:sp>
        <p:nvSpPr>
          <p:cNvPr id="6" name="Shape 2"/>
          <p:cNvSpPr/>
          <p:nvPr/>
        </p:nvSpPr>
        <p:spPr>
          <a:xfrm>
            <a:off x="571500" y="1495499"/>
            <a:ext cx="8001000" cy="796528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4375" y="1552649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0B981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436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8" y="1573188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71613" y="1552649"/>
            <a:ext cx="111263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 Free API Key</a:t>
            </a:r>
            <a:endParaRPr lang="en-US" sz="987" dirty="0"/>
          </a:p>
        </p:txBody>
      </p:sp>
      <p:sp>
        <p:nvSpPr>
          <p:cNvPr id="10" name="Text 5"/>
          <p:cNvSpPr/>
          <p:nvPr/>
        </p:nvSpPr>
        <p:spPr>
          <a:xfrm>
            <a:off x="1271588" y="1791965"/>
            <a:ext cx="71580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 Google AI Studio to generate your key.</a:t>
            </a:r>
            <a:endParaRPr lang="en-US" sz="727" dirty="0"/>
          </a:p>
        </p:txBody>
      </p:sp>
      <p:sp>
        <p:nvSpPr>
          <p:cNvPr id="11" name="Shape 6"/>
          <p:cNvSpPr/>
          <p:nvPr/>
        </p:nvSpPr>
        <p:spPr>
          <a:xfrm>
            <a:off x="1271588" y="1970559"/>
            <a:ext cx="7158038" cy="250031"/>
          </a:xfrm>
          <a:prstGeom prst="rect">
            <a:avLst/>
          </a:prstGeom>
          <a:solidFill>
            <a:srgbClr val="0F172A"/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357313" y="2027709"/>
            <a:ext cx="210383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u="sng" dirty="0">
                <a:solidFill>
                  <a:srgbClr val="38BDF8"/>
                </a:solidFill>
                <a:uFill>
                  <a:solidFill>
                    <a:srgbClr val="38BDF8"/>
                  </a:solidFill>
                </a:u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https://aistudio.google.com/app/apikey</a:t>
            </a:r>
            <a:endParaRPr lang="en-US" sz="674" dirty="0"/>
          </a:p>
        </p:txBody>
      </p:sp>
      <p:sp>
        <p:nvSpPr>
          <p:cNvPr id="13" name="Shape 8"/>
          <p:cNvSpPr/>
          <p:nvPr/>
        </p:nvSpPr>
        <p:spPr>
          <a:xfrm>
            <a:off x="571500" y="2349178"/>
            <a:ext cx="8001000" cy="617934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14375" y="2406328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0B981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436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88" y="2426866"/>
            <a:ext cx="128588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71613" y="2406328"/>
            <a:ext cx="105013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Install Libraries</a:t>
            </a:r>
            <a:endParaRPr lang="en-US" sz="987" dirty="0"/>
          </a:p>
        </p:txBody>
      </p:sp>
      <p:sp>
        <p:nvSpPr>
          <p:cNvPr id="17" name="Shape 11"/>
          <p:cNvSpPr/>
          <p:nvPr/>
        </p:nvSpPr>
        <p:spPr>
          <a:xfrm>
            <a:off x="1271588" y="2645643"/>
            <a:ext cx="7158038" cy="250031"/>
          </a:xfrm>
          <a:prstGeom prst="rect">
            <a:avLst/>
          </a:prstGeom>
          <a:solidFill>
            <a:srgbClr val="0F172A"/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357313" y="2702793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</a:t>
            </a:r>
            <a:endParaRPr lang="en-US" sz="674" dirty="0"/>
          </a:p>
        </p:txBody>
      </p:sp>
      <p:sp>
        <p:nvSpPr>
          <p:cNvPr id="19" name="Text 13"/>
          <p:cNvSpPr/>
          <p:nvPr/>
        </p:nvSpPr>
        <p:spPr>
          <a:xfrm>
            <a:off x="1484114" y="2702793"/>
            <a:ext cx="26574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pip install openai langchain-community faiss-cpu</a:t>
            </a:r>
            <a:endParaRPr lang="en-US" sz="674" dirty="0"/>
          </a:p>
        </p:txBody>
      </p:sp>
      <p:sp>
        <p:nvSpPr>
          <p:cNvPr id="20" name="Shape 14"/>
          <p:cNvSpPr/>
          <p:nvPr/>
        </p:nvSpPr>
        <p:spPr>
          <a:xfrm>
            <a:off x="571500" y="3024262"/>
            <a:ext cx="8001000" cy="617934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14375" y="3081412"/>
            <a:ext cx="43041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0B981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436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373" y="3101950"/>
            <a:ext cx="144661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89472" y="3081412"/>
            <a:ext cx="171807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 Environment Variable</a:t>
            </a:r>
            <a:endParaRPr lang="en-US" sz="987" dirty="0"/>
          </a:p>
        </p:txBody>
      </p:sp>
      <p:sp>
        <p:nvSpPr>
          <p:cNvPr id="24" name="Shape 17"/>
          <p:cNvSpPr/>
          <p:nvPr/>
        </p:nvSpPr>
        <p:spPr>
          <a:xfrm>
            <a:off x="1273373" y="3320728"/>
            <a:ext cx="7156252" cy="250031"/>
          </a:xfrm>
          <a:prstGeom prst="rect">
            <a:avLst/>
          </a:prstGeom>
          <a:solidFill>
            <a:srgbClr val="0F172A"/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359098" y="3377878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</a:t>
            </a:r>
            <a:endParaRPr lang="en-US" sz="674" dirty="0"/>
          </a:p>
        </p:txBody>
      </p:sp>
      <p:sp>
        <p:nvSpPr>
          <p:cNvPr id="26" name="Text 19"/>
          <p:cNvSpPr/>
          <p:nvPr/>
        </p:nvSpPr>
        <p:spPr>
          <a:xfrm>
            <a:off x="1485900" y="3377878"/>
            <a:ext cx="12180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export OPENAI_API_KEY=</a:t>
            </a:r>
            <a:endParaRPr lang="en-US" sz="674" dirty="0"/>
          </a:p>
        </p:txBody>
      </p:sp>
      <p:sp>
        <p:nvSpPr>
          <p:cNvPr id="27" name="Text 20"/>
          <p:cNvSpPr/>
          <p:nvPr/>
        </p:nvSpPr>
        <p:spPr>
          <a:xfrm>
            <a:off x="2703909" y="3377878"/>
            <a:ext cx="60900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8BDF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"AIzaSy..."</a:t>
            </a:r>
            <a:endParaRPr lang="en-US" sz="674" dirty="0"/>
          </a:p>
        </p:txBody>
      </p:sp>
      <p:sp>
        <p:nvSpPr>
          <p:cNvPr id="28" name="Shape 21"/>
          <p:cNvSpPr/>
          <p:nvPr/>
        </p:nvSpPr>
        <p:spPr>
          <a:xfrm>
            <a:off x="571500" y="3699346"/>
            <a:ext cx="8001000" cy="617934"/>
          </a:xfrm>
          <a:prstGeom prst="rect">
            <a:avLst/>
          </a:prstGeom>
          <a:solidFill>
            <a:srgbClr val="1E293B">
              <a:alpha val="40000"/>
            </a:srgbClr>
          </a:solidFill>
          <a:ln w="9144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14375" y="3756496"/>
            <a:ext cx="43934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0B981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436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303" y="3777035"/>
            <a:ext cx="128588" cy="1285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482328" y="3756496"/>
            <a:ext cx="79474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Scripts</a:t>
            </a:r>
            <a:endParaRPr lang="en-US" sz="987" dirty="0"/>
          </a:p>
        </p:txBody>
      </p:sp>
      <p:sp>
        <p:nvSpPr>
          <p:cNvPr id="32" name="Shape 24"/>
          <p:cNvSpPr/>
          <p:nvPr/>
        </p:nvSpPr>
        <p:spPr>
          <a:xfrm>
            <a:off x="1282303" y="3995812"/>
            <a:ext cx="7147322" cy="250031"/>
          </a:xfrm>
          <a:prstGeom prst="rect">
            <a:avLst/>
          </a:prstGeom>
          <a:solidFill>
            <a:srgbClr val="0F172A"/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1368028" y="4052962"/>
            <a:ext cx="553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</a:t>
            </a:r>
            <a:endParaRPr lang="en-US" sz="674" dirty="0"/>
          </a:p>
        </p:txBody>
      </p:sp>
      <p:sp>
        <p:nvSpPr>
          <p:cNvPr id="34" name="Text 26"/>
          <p:cNvSpPr/>
          <p:nvPr/>
        </p:nvSpPr>
        <p:spPr>
          <a:xfrm>
            <a:off x="1494830" y="4052962"/>
            <a:ext cx="12733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python3 1_simple_rag.py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2026-02-27T13:56:14Z</dcterms:created>
  <dcterms:modified xsi:type="dcterms:W3CDTF">2026-02-27T13:56:14Z</dcterms:modified>
</cp:coreProperties>
</file>